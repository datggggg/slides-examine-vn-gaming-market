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C3ED-6083-E12D-206A-E18175D87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B0A59-7074-1CC5-96DE-274BFE2E3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F615A-BAAE-DCFB-0BB9-DBCCF274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85F5B-45BE-6D56-ED77-FE585E37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97855-89E5-1FD5-CF97-852ED305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0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E284-334D-60EE-0E62-BCDBD8D0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72D8D-0689-7AA4-971C-AEEF9ABF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7677-5996-709D-0C97-AF3D481A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62D3-C743-BE13-D504-767EE421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2ACE9-C71A-4185-5B28-7E248B08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8A88E-A04E-CB22-A40E-F2F99F55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F49D7-E151-54DD-B3EE-C208F28FC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F9F7C-2243-1B1C-F709-3DEC4788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DD961-6795-8EC7-FF36-7A9B0963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3C0DE-4B8D-5268-BEFD-27D43743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95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9B94-77E0-15D5-B349-2D3EE509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C7B13-13E0-4453-1996-2AB6FF866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98B57-7959-7AE4-5868-E7EFA6B74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D1DF8-4E59-FEA6-5ADF-5D2227CB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2F552-B8DB-24D2-B06A-90FF507A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5C4C3-D4B7-2D2F-3613-A0FBE2E4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8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D5BFD-5E5B-CF92-0BE5-61FCD3AA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9CA52-0955-4A15-ABD4-8DEB4E43A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F97D3-19EF-DF96-9498-71F98D1B9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6D518-500E-E616-47AE-262A5CA03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B8B65-D063-A013-A7B9-D9832DDEE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FD25E7-D8DE-5B6E-E91D-5E4E2BC0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4D9C9-6735-1705-3F7A-246D1A5E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B9368-865C-C8A0-3CF8-8E62ACDB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8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89A1-4320-2DAB-C86E-80027DF9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640D8-736C-B7D6-ADFA-676D3A31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3729D-216D-B297-8FF6-655ADCC1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C1335-2FB8-AC09-9F3D-D1A5346C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0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1E313-7D42-894D-3CE1-7050B010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99705-163E-3931-0D19-1FC67236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87569-3910-29B9-7EAB-33967015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9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EFC5-A8A0-D48E-D749-B5E6C57A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4E81A-B442-1DFF-9A61-EA2BEB18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BEEE3-0ECB-BB4C-C5B9-0DE5DCCCE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73479-B697-7BEE-EF9A-C1821D73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930BA-DE39-67CD-D8B6-148119BB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982A7-0430-FF1B-2491-66C3D700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2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831B-98CA-F716-C56D-62489919F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E63BE-F622-0AE2-7D50-923A2EA04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92AD0-0D7A-A8FC-7EF9-6EDDF87C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D68A9-A542-74C7-E40A-F7663205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38C4C-0BB3-1292-CC01-5098DE3F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6FB57-E5E1-E870-062D-C58E63E0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5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54EF-AA87-220B-83EB-C259ED68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A4B6C-64A4-0FB8-FA8E-5A720CDB2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48F0A-CB49-A59D-960B-9CB3A1CB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EAAD-25ED-700F-C519-9D6AF654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9F9F9-91CC-D012-316F-2A56A49F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7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174EE-2BB9-6D7F-433A-0175B7225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DDB25-C009-EB6C-5943-430747504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742DE-8380-7B50-532C-0C9B29BB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03D1E-5B40-0B69-890A-65E7E384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9E310-E612-25C4-6672-089CCCB0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0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764CA-A7F7-040F-8989-50199388B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DFFA2-287B-AEA0-9AD3-36A89359E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E2AAE-C7A3-0B08-C069-540BB1FC2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3D1BE-7F2C-4169-98BD-972CE0F7886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91219-4057-B7A0-4792-46FB98DA8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3A342-4BD0-7C09-7C6C-0E60D2F4F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58068-0948-4746-BE40-2C57C64A5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8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01CBD1-C82F-2827-6512-E44BBB3578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B2298-6215-EDDD-0F53-01D140EF39D0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5FFAD7-31D6-61EA-24CC-43B9C7A102FB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18ACA-4D2D-3B7B-B32C-77499CB0DF62}"/>
              </a:ext>
            </a:extLst>
          </p:cNvPr>
          <p:cNvSpPr txBox="1"/>
          <p:nvPr/>
        </p:nvSpPr>
        <p:spPr>
          <a:xfrm>
            <a:off x="660400" y="914400"/>
            <a:ext cx="2286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OFFICIAL DECK SKELETON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F3191-1D2B-4079-D187-B1745C35E45D}"/>
              </a:ext>
            </a:extLst>
          </p:cNvPr>
          <p:cNvSpPr txBox="1"/>
          <p:nvPr/>
        </p:nvSpPr>
        <p:spPr>
          <a:xfrm>
            <a:off x="635000" y="1422400"/>
            <a:ext cx="8255000" cy="6155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3000" b="1">
                <a:solidFill>
                  <a:srgbClr val="434343"/>
                </a:solidFill>
                <a:latin typeface="Aptos Display" panose="020B0004020202020204" pitchFamily="34" charset="0"/>
              </a:rPr>
              <a:t>Examining VN Gaming Market Opportunity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B9A87-38DC-6BAC-A480-513CD0F3F508}"/>
              </a:ext>
            </a:extLst>
          </p:cNvPr>
          <p:cNvSpPr txBox="1"/>
          <p:nvPr/>
        </p:nvSpPr>
        <p:spPr>
          <a:xfrm>
            <a:off x="660400" y="2717800"/>
            <a:ext cx="8128000" cy="93871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434343"/>
                </a:solidFill>
                <a:latin typeface="Aptos" panose="020B0004020202020204" pitchFamily="34" charset="0"/>
              </a:rPr>
              <a:t>Working hypothesis: there will be many advantages and opportunities in the Vietnam gaming market during the next 1-3 years, and we should capture them before the window closes.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B3CB7F-97E7-2F61-C2A0-B928F571328F}"/>
              </a:ext>
            </a:extLst>
          </p:cNvPr>
          <p:cNvSpPr/>
          <p:nvPr/>
        </p:nvSpPr>
        <p:spPr>
          <a:xfrm>
            <a:off x="660400" y="3962400"/>
            <a:ext cx="10845800" cy="13462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5A2E7C-CD62-CDC4-5639-DB5B28D3DD64}"/>
              </a:ext>
            </a:extLst>
          </p:cNvPr>
          <p:cNvSpPr txBox="1"/>
          <p:nvPr/>
        </p:nvSpPr>
        <p:spPr>
          <a:xfrm>
            <a:off x="889000" y="4191000"/>
            <a:ext cx="10388600" cy="107721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500">
                <a:solidFill>
                  <a:srgbClr val="434343"/>
                </a:solidFill>
                <a:latin typeface="Aptos" panose="020B0004020202020204" pitchFamily="34" charset="0"/>
              </a:rPr>
              <a:t>Scope
- Vietnam gaming market only
- Mobile and PC only
- Mid-core and casual only; hypercasual and hybridcasual excluded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45BC1-C5C3-2A94-5D83-E3289E4160F4}"/>
              </a:ext>
            </a:extLst>
          </p:cNvPr>
          <p:cNvSpPr txBox="1"/>
          <p:nvPr/>
        </p:nvSpPr>
        <p:spPr>
          <a:xfrm>
            <a:off x="660400" y="5765800"/>
            <a:ext cx="5334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Aptos" panose="020B0004020202020204" pitchFamily="34" charset="0"/>
              </a:rPr>
              <a:t>Palette learned from the supplied SVG template.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C2E4B0-16EB-68DE-6EBA-61E13179D410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C4639AA-5598-A31A-27AC-87F432A00884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C1626-7545-5DB4-B762-8DAD2250EB06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89091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F2349-8F6E-9C63-31B3-C50E7A8644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79CD1-46EE-21B5-9463-9D8989F881C8}"/>
              </a:ext>
            </a:extLst>
          </p:cNvPr>
          <p:cNvSpPr/>
          <p:nvPr/>
        </p:nvSpPr>
        <p:spPr>
          <a:xfrm>
            <a:off x="0" y="0"/>
            <a:ext cx="2794000" cy="68580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1A859D-B449-27CE-3869-ED9678F7DDDA}"/>
              </a:ext>
            </a:extLst>
          </p:cNvPr>
          <p:cNvSpPr/>
          <p:nvPr/>
        </p:nvSpPr>
        <p:spPr>
          <a:xfrm>
            <a:off x="609600" y="889000"/>
            <a:ext cx="1422400" cy="101600"/>
          </a:xfrm>
          <a:prstGeom prst="rect">
            <a:avLst/>
          </a:prstGeom>
          <a:solidFill>
            <a:srgbClr val="FFE6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29E2F-3127-EF4E-0A5F-E141172583CB}"/>
              </a:ext>
            </a:extLst>
          </p:cNvPr>
          <p:cNvSpPr txBox="1"/>
          <p:nvPr/>
        </p:nvSpPr>
        <p:spPr>
          <a:xfrm>
            <a:off x="584200" y="13970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EXECUTIVE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A3B44-6E93-7C53-F2FA-CE12FA8A0E8C}"/>
              </a:ext>
            </a:extLst>
          </p:cNvPr>
          <p:cNvSpPr txBox="1"/>
          <p:nvPr/>
        </p:nvSpPr>
        <p:spPr>
          <a:xfrm>
            <a:off x="3225800" y="1498600"/>
            <a:ext cx="7620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434343"/>
                </a:solidFill>
                <a:latin typeface="Aptos Display" panose="020B0004020202020204" pitchFamily="34" charset="0"/>
              </a:rPr>
              <a:t>Executive Summary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C3880-FC67-0AB0-ECB6-ABCC206A3F3E}"/>
              </a:ext>
            </a:extLst>
          </p:cNvPr>
          <p:cNvSpPr/>
          <p:nvPr/>
        </p:nvSpPr>
        <p:spPr>
          <a:xfrm>
            <a:off x="3251200" y="2489200"/>
            <a:ext cx="7112000" cy="1828800"/>
          </a:xfrm>
          <a:prstGeom prst="roundRect">
            <a:avLst/>
          </a:prstGeom>
          <a:solidFill>
            <a:srgbClr val="F5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E2E37-8B76-A1C8-DD2E-C29236328700}"/>
              </a:ext>
            </a:extLst>
          </p:cNvPr>
          <p:cNvSpPr txBox="1"/>
          <p:nvPr/>
        </p:nvSpPr>
        <p:spPr>
          <a:xfrm>
            <a:off x="3530600" y="2768600"/>
            <a:ext cx="65278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434343"/>
                </a:solidFill>
                <a:latin typeface="Aptos" panose="020B0004020202020204" pitchFamily="34" charset="0"/>
              </a:rPr>
              <a:t>Lead with the answer, then use the rest of the deck to prove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C500A-ECC5-0838-9D5A-1401912C0A47}"/>
              </a:ext>
            </a:extLst>
          </p:cNvPr>
          <p:cNvSpPr txBox="1"/>
          <p:nvPr/>
        </p:nvSpPr>
        <p:spPr>
          <a:xfrm>
            <a:off x="3251200" y="4622800"/>
            <a:ext cx="5461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Aptos" panose="020B0004020202020204" pitchFamily="34" charset="0"/>
              </a:rPr>
              <a:t>This section starts as a placeholder structure and will be populated slide by slide.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7373E6-96F6-7F4B-3406-3CBFEA1FBBD6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03200C-C596-05CE-AE73-B8B36974C02B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8802B-A77C-04B5-9D22-CA0B69C5056E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0604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ACC219-4492-41AF-A4E1-AB46514DB5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EC9D1-D0F5-F004-F019-C2180EF2B815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Executive Summary &gt; 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1456A-E832-142A-2624-DCF9CC40F40A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Answer first: is Vietnam a 1-3 year sourcing opportunity?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5954A3-5DA4-CB4C-6E01-C5CDE8D8D055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7DBEDE-6C51-9A5A-663F-F8D00712E10A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11C3A-44CC-22F0-C8D3-F10D700C5815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9BCD1-C76B-0A2B-783C-F430BC09EE1C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Set up the investment answer in one slide before the evidence section begins.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DE1493-44DE-D0F2-2EFD-FDCE5A5C9F09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78C11-25DF-5F69-60F4-2FE0C2ABDB1C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EBB184-B8BC-1668-E0B8-D38BAF14B68F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Placeholders:
- One-sentence answer
- 3 supporting proof points
- 2 key risks
- Recommendation for 2026 sourcing focus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6D8EC7-8905-372A-341F-89872C40FC6D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505BA0-233E-DFE4-DAEB-4A7D004FA9AD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EEE25-9B8A-A166-8D60-EABD6388FD0F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Executive scorecard, demand vs. supply mini-chart, or yes/no recommendation panel.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70BEB0-D23D-A41F-A0F1-EE666A3EA0B3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3A256A-00A1-15EA-C8EC-A515A5C4A8C5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D8E168-F538-CA8C-CE23-7F0211DFB926}"/>
              </a:ext>
            </a:extLst>
          </p:cNvPr>
          <p:cNvSpPr txBox="1"/>
          <p:nvPr/>
        </p:nvSpPr>
        <p:spPr>
          <a:xfrm>
            <a:off x="6426200" y="4318000"/>
            <a:ext cx="4978400" cy="77713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Vietnam likely offers an attractive near-term opportunity if demand readiness rises faster than supply of high-quality local games.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D639FD-4C61-4342-9E70-91D1ED3D49A9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4D27FA3-3011-BEEE-D62D-435F0D40E426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DF0D8D-05D8-11DD-4562-C8F4CD0E5A5B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5484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7B09AE-B8C0-42D6-0344-272C2F57FF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7A957-A012-C3E0-2B11-77A938DC8D78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Executive Summary &gt; 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52219-5C54-AEF6-2F30-E81A37FFE69F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Implication for 2026 sourcing strategy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8281A3-E51D-C9FC-7349-F65178C66107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0C290C-1BBA-90AF-E79F-2F0A9375580A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1DE55-578C-9C92-9319-F4E1616E8D7B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0E23A-F324-D582-6F5F-4E128AD6CE23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Translate the market answer into sourcing implications, target genres, and next-step decisions.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26B63C-8B67-D695-FDA9-E0D4192BF56A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4BCD4-76B2-293D-EB34-4F45CF7437AC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38F4E-114A-BA9F-B4B0-EB731EEE7D8B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Placeholders:
- Which genres to prioritize
- What to avoid
- Type of studios to target
- Strategic timing window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A36460-9A82-ABCA-DF43-4367BFF2FF99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280EE-25C8-7F9D-0DCF-A54476FA14BA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B0654-4575-5E94-88C3-DBE3323E17E3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Priority matrix by genre and sourcing route.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E9DB42-007E-8C27-BF87-C8FF0283A04C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56D6DC-82BE-D8F5-7558-CC43E4BB7695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0454E0-DA90-EA4B-F6EB-499575C08A7D}"/>
              </a:ext>
            </a:extLst>
          </p:cNvPr>
          <p:cNvSpPr txBox="1"/>
          <p:nvPr/>
        </p:nvSpPr>
        <p:spPr>
          <a:xfrm>
            <a:off x="6426200" y="4318000"/>
            <a:ext cx="4978400" cy="77713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We should define a selective, evidence-led sourcing thesis instead of treating Vietnam as a broad market bet.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86A5A9-0FE9-9C8E-C052-4E9A7177FE59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39B44D8-94F3-C283-16B1-BD2EAD7F1B36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3B7A40-AFB6-57DB-9D82-B0AB241811D2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6499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72609C-D33F-893B-4390-F7DA345C8D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71CCED-B857-BADD-A030-DE548737D21C}"/>
              </a:ext>
            </a:extLst>
          </p:cNvPr>
          <p:cNvSpPr/>
          <p:nvPr/>
        </p:nvSpPr>
        <p:spPr>
          <a:xfrm>
            <a:off x="0" y="0"/>
            <a:ext cx="2794000" cy="68580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E7BE6C-440D-A985-B031-C6EF10966BDE}"/>
              </a:ext>
            </a:extLst>
          </p:cNvPr>
          <p:cNvSpPr/>
          <p:nvPr/>
        </p:nvSpPr>
        <p:spPr>
          <a:xfrm>
            <a:off x="609600" y="889000"/>
            <a:ext cx="1422400" cy="101600"/>
          </a:xfrm>
          <a:prstGeom prst="rect">
            <a:avLst/>
          </a:prstGeom>
          <a:solidFill>
            <a:srgbClr val="FFE6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E8F4C-E7C7-7AEB-5F8A-DC01FBD38799}"/>
              </a:ext>
            </a:extLst>
          </p:cNvPr>
          <p:cNvSpPr txBox="1"/>
          <p:nvPr/>
        </p:nvSpPr>
        <p:spPr>
          <a:xfrm>
            <a:off x="584200" y="1397000"/>
            <a:ext cx="1905000" cy="52322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MACRO &amp; CULTURAL FACTORS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1A806-6186-6DA4-18C4-888AC7182F2A}"/>
              </a:ext>
            </a:extLst>
          </p:cNvPr>
          <p:cNvSpPr txBox="1"/>
          <p:nvPr/>
        </p:nvSpPr>
        <p:spPr>
          <a:xfrm>
            <a:off x="3225800" y="1498600"/>
            <a:ext cx="7620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434343"/>
                </a:solidFill>
                <a:latin typeface="Aptos Display" panose="020B0004020202020204" pitchFamily="34" charset="0"/>
              </a:rPr>
              <a:t>Demand-side Factors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E83976-8F21-D6D4-0D1D-030A57C4EBE0}"/>
              </a:ext>
            </a:extLst>
          </p:cNvPr>
          <p:cNvSpPr/>
          <p:nvPr/>
        </p:nvSpPr>
        <p:spPr>
          <a:xfrm>
            <a:off x="3251200" y="2489200"/>
            <a:ext cx="7112000" cy="1828800"/>
          </a:xfrm>
          <a:prstGeom prst="roundRect">
            <a:avLst/>
          </a:prstGeom>
          <a:solidFill>
            <a:srgbClr val="F5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F1D65-F4D7-D76C-5F0B-383B2A3528E2}"/>
              </a:ext>
            </a:extLst>
          </p:cNvPr>
          <p:cNvSpPr txBox="1"/>
          <p:nvPr/>
        </p:nvSpPr>
        <p:spPr>
          <a:xfrm>
            <a:off x="3530600" y="2768600"/>
            <a:ext cx="65278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434343"/>
                </a:solidFill>
                <a:latin typeface="Aptos" panose="020B0004020202020204" pitchFamily="34" charset="0"/>
              </a:rPr>
              <a:t>Establish the readiness conditions that shape demand and local content fit.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44A9D-5E5A-3293-98CF-05B50C075048}"/>
              </a:ext>
            </a:extLst>
          </p:cNvPr>
          <p:cNvSpPr txBox="1"/>
          <p:nvPr/>
        </p:nvSpPr>
        <p:spPr>
          <a:xfrm>
            <a:off x="3251200" y="4622800"/>
            <a:ext cx="5461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Aptos" panose="020B0004020202020204" pitchFamily="34" charset="0"/>
              </a:rPr>
              <a:t>This section starts as a placeholder structure and will be populated slide by slide.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6583E6-5365-2DAE-E34D-3192D4CF30C6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35317A0-5FE0-43F9-1C72-D4307AA7AAC4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822AA-FE56-D0B0-F7EA-4CF3428E69FB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4383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8E28E0-3979-88DD-7F1A-A9C78A9F4D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0DC10-E23E-0676-1C40-0094203AD8CA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1C5394-0311-554D-BC49-6BAFD5C0F730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Income per capita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FD8BC5-DE21-42BB-87AC-7D86B2F238DF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FBF28D-4145-84A5-4640-482273A32DBE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825EE-3441-13A5-D823-52FEDB0F9FE3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2EA63-4B79-B5E5-995C-2DD343DCC307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Show whether rising spending power supports greater gaming demand in Vietnam.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0ADB91-6610-6B25-38F9-5F623077A380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D7626-E5FB-BDE3-5F7C-DD8C5EBCF1A3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A51D6-8357-5998-799E-91366733ECC3}"/>
              </a:ext>
            </a:extLst>
          </p:cNvPr>
          <p:cNvSpPr txBox="1"/>
          <p:nvPr/>
        </p:nvSpPr>
        <p:spPr>
          <a:xfrm>
            <a:off x="685800" y="3556000"/>
            <a:ext cx="5054600" cy="135421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Current income per capita
- Last 10 years trend, 2016-2025
- Geo heatmap vs. peers
- GDP sector distribution shift
- Short conclusion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2F37F4-597C-6C9C-F583-51C73CA50CD2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DC3D3-FF0F-D2DD-AE64-F40173E13022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009526-7DC6-82E8-ED27-6C0E1E5FE176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Line chart for 2016-2025, peer-country heatmap, stacked sector mix.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89D5D1-6F53-5622-187F-9FE7A869D410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67E7D4-AA95-F314-A78D-13C1D06B10FB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D04CCD-9861-7062-CBD5-04D040A32F90}"/>
              </a:ext>
            </a:extLst>
          </p:cNvPr>
          <p:cNvSpPr txBox="1"/>
          <p:nvPr/>
        </p:nvSpPr>
        <p:spPr>
          <a:xfrm>
            <a:off x="6426200" y="4318000"/>
            <a:ext cx="4978400" cy="77713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Income growth expands the addressable audience for mobile and PC gaming, especially beyond entry-level spend.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1E99C4-371F-23C0-9EDA-919321102E15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AB81A3-0F32-8EEF-B2CC-8E6D3B6F6379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19BEA-F1E7-C0B2-6F09-1755BAB2799A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5965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A1A52E-DD76-E67C-D477-69E15B367E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017D5-3402-CBD5-F381-D4CEE25F1973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ECE5A-624A-FD59-B066-3F65D26993E6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Demographics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B37592-6D46-CF63-F18C-4701D02B02B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FC3BD6-2C7D-9093-BF94-965876CC1866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206D7-EBB4-6590-A38B-6AEB4B0296F2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9EFDB-FE46-4986-67DB-9B349CA04B67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Connect age structure, workforce scale, and digital-native cohorts to game demand potential.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6EEF2A-BEDE-AC97-9042-D01529D75691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522A9-2ABC-A4DD-6629-A69893B16E45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D839F4-7A12-F351-8AB7-C44230910794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Population scale and growth
- Age mix / gamer-relevant cohorts
- Urban-rural split
- Any 2026 implication for mid-core and casual demand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DC6F74-AAA9-17B7-20B1-0FB79396B208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B452D5-4100-8838-03D9-0BF6FF981433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586B2-B009-61B7-68D7-DD432E2D56A4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Population pyramid, age-band bars, or gamer-addressable cohort chart.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655843-2FE7-1BB9-76B0-DAF775EE2445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E2CAA-2BEF-9599-6C99-9B2821831BC8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A99323-DEFE-D2B8-F46F-EDA9F4695D75}"/>
              </a:ext>
            </a:extLst>
          </p:cNvPr>
          <p:cNvSpPr txBox="1"/>
          <p:nvPr/>
        </p:nvSpPr>
        <p:spPr>
          <a:xfrm>
            <a:off x="6426200" y="4318000"/>
            <a:ext cx="4978400" cy="77713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Vietnam's demographic structure still supports broad gamer acquisition, but not all cohorts are equally monetizable.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5AF6D3-0267-9776-5811-01BA21076D97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27BF4E-4235-D673-0052-517E25B84D23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EBAE4-C85B-9906-E0C2-05837E350B8F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03608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340C7-13BE-3720-C2D5-4CA28FB7D3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347C2-4EDC-FA0F-310F-995BDCADCB17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90968-4009-129F-9CD6-1B89D9265DC6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Mobile penetration and internet infrastructure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54F7FA-B2DC-8A1F-93C1-D55AC7536B84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69BEF6-EB21-1312-0490-CCA9AEE39504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0FA65-27AC-AE02-6598-87F94B6110E3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45FE1-F14C-F498-843A-92D72E68792A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Test whether access conditions are strong enough to sustain mobile and PC engagement growth.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4CC410-0139-F94E-A408-11E59AEDF9F7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5F8E9-6C09-8B41-C022-9DF2418E4A54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383A2-7F2A-408B-F947-52D44988F047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Smartphone penetration
- 4G/5G and broadband quality
- Internet penetration
- Time spent online / device behavior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188679-48FE-1C33-B84D-F56F9B003777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A92FF3-00EC-CD3F-9517-C05A9F4341E3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DB1D9A-E3C6-6EC6-5258-0E4D2565D529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Penetration trend lines, infrastructure benchmark table, coverage map.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AA365A-A689-E382-08C8-C14AF252A3EB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032FF2-4FD8-AB8C-BD52-2C2D63C6EA96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DFCEF8-61C6-E915-B0CB-FC63D47EFCE1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Access barriers appear low enough that content fit and monetization matter more than device availability.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4734B8-24F1-084A-84FA-BBA2176C6A11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395FD6-D3C5-5728-5B45-14C122B948EF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631E45-836C-E06F-177F-1711F6C66E24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8601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671B7-6F00-B963-508B-A48CF19BD0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0CEC3-3967-A4BB-C814-9796042053E5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40D84-9D35-1E22-B60F-F68AE1655DF2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Government regulation and policy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13BC3A-EAC7-F615-91E6-45EE2C93D8BC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964A9-CD0F-5CFC-F0EE-3649DD195470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1/2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3E3AE7-19AA-E570-5F7B-3536E9E65D80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54BC5F-8B21-5D27-6576-29071DBC499A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38338-CDB5-5E6D-21B3-E76D97696AC6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ADAC5-3FA2-C4C4-5B15-D8B5B100F080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Establish whether regulation is a growth enabler, a compliance burden, or both.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4B9C64-D7C7-7DCA-795A-E35F06768AF9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FD5D2-1164-0139-7681-4DDF81625232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C160D9-E839-7982-474B-A816DA334BD0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Licensing process
- Content restrictions
- Foreign/local publisher considerations
- Policy shifts affecting mobile and PC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45CF86-E6EA-F1A5-1DEE-A506E4A33262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7D3C1B-7239-375E-3B08-DBB0A4483894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5B2DD-A0F2-7457-FBDE-D33976372076}"/>
              </a:ext>
            </a:extLst>
          </p:cNvPr>
          <p:cNvSpPr txBox="1"/>
          <p:nvPr/>
        </p:nvSpPr>
        <p:spPr>
          <a:xfrm>
            <a:off x="6426200" y="1879600"/>
            <a:ext cx="4978400" cy="7540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Policy timeline, regulatory flowchart, risk matrix.
Use this first slide for framing, definitions, or the headline evidence.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E1A815-9976-6109-24FA-5CA0534008DD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AEB6C5-FFA6-F3CB-CF5F-4F027E30F1DE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D435A2-8D53-ACFD-B90A-44567A4E62F2}"/>
              </a:ext>
            </a:extLst>
          </p:cNvPr>
          <p:cNvSpPr txBox="1"/>
          <p:nvPr/>
        </p:nvSpPr>
        <p:spPr>
          <a:xfrm>
            <a:off x="6426200" y="4318000"/>
            <a:ext cx="4978400" cy="98488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Regulation shapes speed-to-market and portfolio construction, not just legal overhead.
Use this slide to land the first-order conclusion.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66452A-7262-D040-0D73-FF75AFE87970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8E2E14-AA49-9AEA-61C4-C9924BB5A0C7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0D05C3-7618-0224-56B2-6DD5832FB8DC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65037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53753-7CEB-D524-FF7E-C92963193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2C375-3A4B-721F-A312-F4D2ECEDA366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FE5C0-865D-9196-9ED5-A6C9DE17A726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Government regulation and policy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2EED18-BF55-4F58-4D83-AC368353F114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FC364-C5E5-837F-8CE8-2FE1F2E4E24E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2/2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5A16B8-BD42-A27A-E660-A0D61DFB206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0A3FB8-B754-72FC-1FA3-C8879B12B90A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3DA66-4B32-6C12-880E-3DD32D4E5B67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65F3E1-C63F-93DA-6B98-42C1FF9D10EE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Establish whether regulation is a growth enabler, a compliance burden, or both.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0A378B-E2F4-E466-569B-B4422B6D2F08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EB2AC-4AB2-1483-96CF-B3C80FEC9905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823FDC-757B-D23E-C212-5F44BEAA9D35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Licensing process
- Content restrictions
- Foreign/local publisher considerations
- Policy shifts affecting mobile and PC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94E775-8194-5EEE-8DC7-33BF7B041A9F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21E920-C56E-4B9D-A82C-FA590C414EE8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7125CB-066E-DE6B-7E84-DF34E8C6227D}"/>
              </a:ext>
            </a:extLst>
          </p:cNvPr>
          <p:cNvSpPr txBox="1"/>
          <p:nvPr/>
        </p:nvSpPr>
        <p:spPr>
          <a:xfrm>
            <a:off x="6426200" y="1879600"/>
            <a:ext cx="49784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Policy timeline, regulatory flowchart, risk matrix.
Use this continuation to deepen examples, benchmarks, or risk nuance.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4662C3-CFA6-7A0D-08FD-1448B4253BEC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E3EB2-2414-8376-7A39-F87E052F7433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4742A4-26B1-C6BA-2A21-F722E7CF6F5F}"/>
              </a:ext>
            </a:extLst>
          </p:cNvPr>
          <p:cNvSpPr txBox="1"/>
          <p:nvPr/>
        </p:nvSpPr>
        <p:spPr>
          <a:xfrm>
            <a:off x="6426200" y="4318000"/>
            <a:ext cx="4978400" cy="119263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Regulation shapes speed-to-market and portfolio construction, not just legal overhead.
Use this continuation to add nuance, exceptions, or implications.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5DCDDF-CE24-9978-0C63-C6734FBDAE65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4A36C3-F2CC-7081-ACD5-B7C81BB65BBB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F2904F-C748-BBF5-04C8-0B37D3FD9289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081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70D62C-6BC0-1BAE-37AA-3F99A302F2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410B5-1480-F923-D3EE-D4A4B4B70040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E92B9-7C7F-770A-F6A2-FD7C9334A114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Social acceptance and gaming culture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C8A28B-4B2A-F9E7-8CE1-29ACBAD6BF72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CB179-5EAF-984D-1FBF-B7C969C41DE5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1/3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2F454D-C888-1F73-A2C1-25D52075FF45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36A6CF-DF01-97B6-BA95-A8E4DF953CC3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906B8F-C95E-5560-B91D-77A1FB22128F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6E5DD-9B44-531B-D857-CDF68A083C6A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Assess whether gaming is mainstream enough to support broader demand and deeper engagement.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1A2F50-9404-CB1F-6A99-74799EBED4B0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FB7D8-A7C7-4E42-CC47-20FD7F1860C1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041FF3-60AC-6B18-B504-3C0DBA1E2959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Public perception of gaming
- Social acceptance by age or gender
- Esports / streamer influence
- Time-spent and community signals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703194-D9AA-3EEA-237C-2D6897F13F4E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1434F1-903D-6EB5-B691-A5FD604BD868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C748C-9AED-E900-06B1-47D3DB86BD91}"/>
              </a:ext>
            </a:extLst>
          </p:cNvPr>
          <p:cNvSpPr txBox="1"/>
          <p:nvPr/>
        </p:nvSpPr>
        <p:spPr>
          <a:xfrm>
            <a:off x="6426200" y="1879600"/>
            <a:ext cx="49784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Culture signal dashboard, social trend examples, gamer-community map.
Use this first slide for framing, definitions, or the headline evidence.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A5BF0FA-1C14-87E1-374B-4E120A80F82C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E942D-8A64-E6F8-8AC5-6D100E469554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3ED2BB-32A3-8118-4CC7-AB1C8CF0BE96}"/>
              </a:ext>
            </a:extLst>
          </p:cNvPr>
          <p:cNvSpPr txBox="1"/>
          <p:nvPr/>
        </p:nvSpPr>
        <p:spPr>
          <a:xfrm>
            <a:off x="6426200" y="4318000"/>
            <a:ext cx="4978400" cy="98488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Cultural normalization influences retention and monetization as much as raw player growth.
Use this slide to land the first-order conclusion.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77C55-4641-89C2-FF79-5007C639CF17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812E6B-BB5C-4424-7BCC-DB2395812422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D272C-46C5-31AD-2464-248D65071355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5411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FB84E8-40BF-8E76-3F58-C3427C8192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0A18A-70E9-5C10-D53F-F231A249589B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FB869-E1F5-EAAB-43DA-F882B210F4B4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Social acceptance and gaming culture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0E0A17-1136-FFC6-E8CF-0967E9B95BEA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AA67E-FD88-426D-40A0-458EC6E58954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2/3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669D87-E412-7C84-7B30-4E6D02DB6B6A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04439B-94C2-716C-CDB6-27BFB75AD4D4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9A5B0-C9B0-E768-F28E-6A6779DCB745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F80D62-EB2E-1B8C-457E-855C2ABBD624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Assess whether gaming is mainstream enough to support broader demand and deeper engagement.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60B62E-81B4-ACDA-3C75-07D81B63380E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6DAD2A-31A9-51E6-9316-5CE29BB94474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954F97-580E-ECFD-0B87-4D34C209853A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Public perception of gaming
- Social acceptance by age or gender
- Esports / streamer influence
- Time-spent and community signals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3533FA-DEC9-140B-8A1D-971A1F9EF7A3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FFE18-D7E2-6C26-3FF9-9ECE55E63762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CBA04-9A3F-C3B5-6D86-31C72832CAB0}"/>
              </a:ext>
            </a:extLst>
          </p:cNvPr>
          <p:cNvSpPr txBox="1"/>
          <p:nvPr/>
        </p:nvSpPr>
        <p:spPr>
          <a:xfrm>
            <a:off x="6426200" y="1879600"/>
            <a:ext cx="49784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Culture signal dashboard, social trend examples, gamer-community map.
Use this continuation to deepen examples, benchmarks, or risk nuance.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D90556-9CAD-4BA7-8B25-8FCAD6AB8B7D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3088FB-A13F-92B5-F213-13E2A5E06DB1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4669E-FBDE-CE0B-A94E-CEF9F9EAD82A}"/>
              </a:ext>
            </a:extLst>
          </p:cNvPr>
          <p:cNvSpPr txBox="1"/>
          <p:nvPr/>
        </p:nvSpPr>
        <p:spPr>
          <a:xfrm>
            <a:off x="6426200" y="4318000"/>
            <a:ext cx="4978400" cy="119263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Cultural normalization influences retention and monetization as much as raw player growth.
Use this continuation to add nuance, exceptions, or implications.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0D6B29-C74F-225B-12E4-9D74E5F9E5F8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BD2384-04AF-0899-B4FB-865892914CA3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408F88-3F02-B9C5-823F-412B83B70F56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0414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B83CD-E54B-B2FF-613C-6FF85A5BD9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96883-2F52-7565-9B08-4F13402C76BC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0D73B-49AC-412D-DDFF-6B84E55F66B5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Social acceptance and gaming culture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766156-AB2F-49E3-894F-51580CE30978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409D-F57D-5460-B7CA-9F4D3B5568A1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3/3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DBEEBC-B8C1-6860-ACB3-6EE0F4FFEB0D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891F0C-4F66-A2FC-BD82-9B597B22B496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E5EE0-E65F-96BC-490C-88BA67C697EB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AEF8A-4B31-75A6-F7B6-B467FBC945E2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Assess whether gaming is mainstream enough to support broader demand and deeper engagement.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30B7856-ADDC-DF65-A9F7-A834745CFEDE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F8552-26A6-A5B2-C65F-392A15F00608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D1BE8-E2F4-A028-2C8F-547481A1AB3E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Public perception of gaming
- Social acceptance by age or gender
- Esports / streamer influence
- Time-spent and community signals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FD0531-6759-10C0-94BE-19791EC7C76D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ED04B-8EB7-32C9-575D-E91320D553D9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BBAF52-FE3F-BD30-204F-D4F3CF9F63C4}"/>
              </a:ext>
            </a:extLst>
          </p:cNvPr>
          <p:cNvSpPr txBox="1"/>
          <p:nvPr/>
        </p:nvSpPr>
        <p:spPr>
          <a:xfrm>
            <a:off x="6426200" y="1879600"/>
            <a:ext cx="49784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Culture signal dashboard, social trend examples, gamer-community map.
Use this continuation to deepen examples, benchmarks, or risk nuance.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6CBEB9-1167-3669-6CED-9E081DC18922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17D60C-3F31-B58C-0A00-162C5747040D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11145C-664D-EBC9-670A-2D8A4F62F3AA}"/>
              </a:ext>
            </a:extLst>
          </p:cNvPr>
          <p:cNvSpPr txBox="1"/>
          <p:nvPr/>
        </p:nvSpPr>
        <p:spPr>
          <a:xfrm>
            <a:off x="6426200" y="4318000"/>
            <a:ext cx="4978400" cy="119263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Cultural normalization influences retention and monetization as much as raw player growth.
Use this continuation to add nuance, exceptions, or implications.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78B4EA-AA09-E5F1-B220-C9B7D4A024DF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A19A1CC-C5D1-F2D6-713A-C05DC7E30A96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8743E4-28BB-34E4-3F6A-4EFE761324F4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5119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2DF0BD-1D47-6FFF-3D03-64C676A9D0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0474D-0217-88EE-A62B-5FD4495983CE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9112F-31CA-2D7D-DB6F-B431EC819F14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Preference for domestic entertainment content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88A3A5-39C6-9261-5EC4-06FA1F72BEE4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F1739-A7B5-C114-49B2-B4D99B5C5046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1/3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20AA45-B939-A8E8-74FE-32F3608C1038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F44363-AC2F-4517-4744-B130542CE953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25DFF5-F65B-05A2-1548-95336BDDE19B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8A703C-00D5-D5C0-7E91-799DDEE06079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Determine whether locally resonant IP or cultural familiarity creates an edge for Vietnamese-made games.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4A2358-5D7D-38B1-D5E8-759065378F50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F7E970-36A0-1BE2-52EC-6B77E23EAF21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8D23C4-A13A-9ECA-BD7D-94B50BEE9901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Evidence from entertainment consumption
- Domestic vs. imported content preference
- Relevance to game art/theme/story
- Implication for Made in VN titles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A56D9C-A745-C0BA-6053-18BDF685C3AD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E8BB8-9E12-D267-6D33-8C6C33102286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40773A-5DF3-2B92-9C38-F16B5EACAC44}"/>
              </a:ext>
            </a:extLst>
          </p:cNvPr>
          <p:cNvSpPr txBox="1"/>
          <p:nvPr/>
        </p:nvSpPr>
        <p:spPr>
          <a:xfrm>
            <a:off x="6426200" y="1879600"/>
            <a:ext cx="49784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Content-preference comparison, case examples, local-vs-global resonance ladder.
Use this first slide for framing, definitions, or the headline evidence.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A32902-61CC-227B-8E93-74375E17654D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71FA5-6028-451E-AC03-B8314529904E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FE3B5E-BE68-AB37-9B4E-AA153A609569}"/>
              </a:ext>
            </a:extLst>
          </p:cNvPr>
          <p:cNvSpPr txBox="1"/>
          <p:nvPr/>
        </p:nvSpPr>
        <p:spPr>
          <a:xfrm>
            <a:off x="6426200" y="4318000"/>
            <a:ext cx="4978400" cy="98488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Domestic affinity may not guarantee hits, but it can improve discoverability and emotional fit.
Use this slide to land the first-order conclusion.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3CF75D-E480-1EA0-B721-C29BC33EBA71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F82776-5070-1A0A-6EF1-DFA6AC915462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A59CF5-573B-166D-D7D2-95A01072E275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33437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F625FE-91DA-89ED-C4D6-997353CDCA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6DBC6-61C8-20E6-38D8-56684C798778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DFEA5-78D3-7657-E6E8-1FA55137F433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Preference for domestic entertainment content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19AF80-EC9C-4CE7-9C29-95CC4CF6E273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E76A5-9961-36B7-CE6E-D72FE0284305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2/3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DBB1CC-7CCE-1F23-1530-D0C657236F86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DCCB7C-0FCA-E4DB-B470-D07997E3B127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39C49-1C23-11B2-4BFD-997018C986EB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FC210B-F081-2CC0-DD43-A9D111395E3E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Determine whether locally resonant IP or cultural familiarity creates an edge for Vietnamese-made games.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CFAE88-A0EE-0B26-B104-8D186FCB2182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4AC9E-F613-99D2-6711-AABEC5D73650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2DD422-4D56-739A-ED5C-4C7390B22320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Evidence from entertainment consumption
- Domestic vs. imported content preference
- Relevance to game art/theme/story
- Implication for Made in VN titles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492EEF-D7C3-DFA7-D00B-98893413EEC8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5AEB6-EE79-E4F3-2908-0EC0DB2BE01B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6CDF15-A6D1-9921-7ED7-0469185989B9}"/>
              </a:ext>
            </a:extLst>
          </p:cNvPr>
          <p:cNvSpPr txBox="1"/>
          <p:nvPr/>
        </p:nvSpPr>
        <p:spPr>
          <a:xfrm>
            <a:off x="6426200" y="1879600"/>
            <a:ext cx="49784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Content-preference comparison, case examples, local-vs-global resonance ladder.
Use this continuation to deepen examples, benchmarks, or risk nuance.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D8ACBF-4DB0-8106-5198-F9BE8C52C219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41265-DBB7-7CA5-5B1A-E4258A019100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094F94-9879-1C09-14B0-4AD701DE1734}"/>
              </a:ext>
            </a:extLst>
          </p:cNvPr>
          <p:cNvSpPr txBox="1"/>
          <p:nvPr/>
        </p:nvSpPr>
        <p:spPr>
          <a:xfrm>
            <a:off x="6426200" y="4318000"/>
            <a:ext cx="4978400" cy="119263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Domestic affinity may not guarantee hits, but it can improve discoverability and emotional fit.
Use this continuation to add nuance, exceptions, or implications.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02E4B2-0E8A-05F8-157A-5D31FC6E9290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4BBDFDD-BB8A-8FA5-9FAA-ACC8E646635E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6B6BC7-862A-BD54-C984-E5F4BBEAF870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77671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87E96C-6574-7256-728E-2423EBFDDD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E6263-FF6C-3B27-3B07-B57652EA5D16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Demand-side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8ADE0-08E5-E0C5-3C11-A70B69843C3B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Preference for domestic entertainment content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F66B85-2AC8-EA6C-DC4B-9337DF03CC0A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809FD-E9B7-1AED-16B5-72139850E182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3/3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E85728-CDF0-E086-3AE0-1CCB15256600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12CE88-2191-3BFD-F2AA-CAF86D79EC30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FDF2D-8649-566A-42F8-5FB22E7CA06A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CA14B-7D09-1B54-5393-E4C2F100F462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Determine whether locally resonant IP or cultural familiarity creates an edge for Vietnamese-made games.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B4B22F-0943-298C-654B-E83DF604A8FC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F2C6F-FA4F-A7E4-595A-548A6F5B850F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01C627-F9C7-B1F5-7843-B30EC87F3EA8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Evidence from entertainment consumption
- Domestic vs. imported content preference
- Relevance to game art/theme/story
- Implication for Made in VN titles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72D3F2F-2DD1-0A85-E2AD-FA8185B59AB2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94CE0-D5AF-CE38-20D5-CD8F9E05B3FE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0C44C-836D-6F2E-D547-5EDB483BEDFA}"/>
              </a:ext>
            </a:extLst>
          </p:cNvPr>
          <p:cNvSpPr txBox="1"/>
          <p:nvPr/>
        </p:nvSpPr>
        <p:spPr>
          <a:xfrm>
            <a:off x="6426200" y="1879600"/>
            <a:ext cx="49784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Content-preference comparison, case examples, local-vs-global resonance ladder.
Use this continuation to deepen examples, benchmarks, or risk nuance.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2548C-9403-0D5F-4273-93E7BDBF78B7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3DFD51-56D8-83D2-7D59-BB41E3358D4B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86A9F-3E4F-CAFD-EA84-BEB8D622DDB0}"/>
              </a:ext>
            </a:extLst>
          </p:cNvPr>
          <p:cNvSpPr txBox="1"/>
          <p:nvPr/>
        </p:nvSpPr>
        <p:spPr>
          <a:xfrm>
            <a:off x="6426200" y="4318000"/>
            <a:ext cx="4978400" cy="119263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Domestic affinity may not guarantee hits, but it can improve discoverability and emotional fit.
Use this continuation to add nuance, exceptions, or implications.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307DD7-06A8-9FA0-0C57-846E0A431503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9D32463-BAA9-2088-BB44-2733CFD9BAEF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D9D69D-3AB0-55E2-9C41-FA91F1071927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73300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7D795B-034C-6C41-DD97-9E8FB0A627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FEA6C-1E8E-4702-06F8-AE96BF41C0BE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Supply-side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F5D96-5386-3792-C11E-00FA1687BED8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Quality of Made in VN games and capability of VN studios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9BB978-AE37-2665-0A22-86BA25D933F1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BCB73-D91C-726F-E6D8-09C6BFE5D442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1/2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8F785E-0FCF-A803-EEA7-389BB3B9ED7C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054672-3CB6-2B91-B709-E275E4AB3B8C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90210-D7B4-8DB2-CD7B-9CAA63071021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CA6686-BF55-4E1A-1FFA-D1434140783D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Evaluate whether local studios can deliver mid-core and casual titles that compete on quality.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B3CDD0-9EE6-62AB-0645-714F71620AF2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1520B-10FA-C051-05E2-6DF0799BCAF3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4151B-F457-C94A-9DA6-E3773D54DA28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Representative local titles
- Production quality benchmarks
- LiveOps capability
- Team maturity and specialization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B0DB5C-EE7A-1C3A-4BEB-493DA23C954D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4FCE3-496C-1FBA-1493-AD46ECEF1B0E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7DF82-C0ED-34A6-E9EE-B8045E045E0B}"/>
              </a:ext>
            </a:extLst>
          </p:cNvPr>
          <p:cNvSpPr txBox="1"/>
          <p:nvPr/>
        </p:nvSpPr>
        <p:spPr>
          <a:xfrm>
            <a:off x="6426200" y="1879600"/>
            <a:ext cx="49784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Capability maturity ladder, benchmark gallery, studio landscape map.
Use this first slide for framing, definitions, or the headline evidence.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95A5594-EA4E-DE23-2B19-E1ED95945852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C4EB9B-92A6-BB6E-3E13-C733689DABA7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156043-A7C3-6261-8396-A2D6FCB7564A}"/>
              </a:ext>
            </a:extLst>
          </p:cNvPr>
          <p:cNvSpPr txBox="1"/>
          <p:nvPr/>
        </p:nvSpPr>
        <p:spPr>
          <a:xfrm>
            <a:off x="6426200" y="4318000"/>
            <a:ext cx="4978400" cy="119263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Supply quality is the gating factor; opportunity improves if leading studios can cross the quality threshold consistently.
Use this slide to land the first-order conclusion.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4B8C65-AC90-8C6F-1BC1-6E175E21568D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EB8F65C-453C-F1F2-9F6A-87F0FE14E6C8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0CCF2-AE53-249C-65A3-A5F63D02CBFD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27922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3BF8D3-40B2-04AD-795F-B10F9E2408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7324C-CB0B-5F60-D800-316ACE2F5198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Supply-side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BB157-9077-BCFE-60C6-A22EA17CC459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Quality of Made in VN games and capability of VN studios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F02769-AF76-62CC-3BA5-63DF3E3BABF7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F78B2-F32B-F00D-91F3-DD24E57743AE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2/2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03A8F1-F91B-F888-4621-666DAFC58057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33E0A9-AD2E-1B83-753C-BE2DB4C697C0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51E96-F2E5-786B-D0E4-1D1692184260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17E142-5FCB-CC52-704D-44390396EC67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Evaluate whether local studios can deliver mid-core and casual titles that compete on quality.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5064BD-5FD0-1BE5-F43F-501C95EEA48C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8A7A8-E80D-AD40-6722-BB1EB2FC9E73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86EEA-D5AC-9A05-4351-4244DF29FCDF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Representative local titles
- Production quality benchmarks
- LiveOps capability
- Team maturity and specialization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9DBC31-7E30-7B89-2448-7A70992B5A8F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D10777-4D43-DBB5-6812-2C3674369EB9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74E492-E0C0-7B64-89E7-8C0345B6E728}"/>
              </a:ext>
            </a:extLst>
          </p:cNvPr>
          <p:cNvSpPr txBox="1"/>
          <p:nvPr/>
        </p:nvSpPr>
        <p:spPr>
          <a:xfrm>
            <a:off x="6426200" y="1879600"/>
            <a:ext cx="49784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Capability maturity ladder, benchmark gallery, studio landscape map.
Use this continuation to deepen examples, benchmarks, or risk nuance.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F45E60C-F488-EDD1-5E18-ABC27FF00110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D9337E-68B5-F75E-9402-953D943A188C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3F6A06-F161-1B7E-9CC6-8B3A44321D6C}"/>
              </a:ext>
            </a:extLst>
          </p:cNvPr>
          <p:cNvSpPr txBox="1"/>
          <p:nvPr/>
        </p:nvSpPr>
        <p:spPr>
          <a:xfrm>
            <a:off x="6426200" y="4318000"/>
            <a:ext cx="4978400" cy="140038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Supply quality is the gating factor; opportunity improves if leading studios can cross the quality threshold consistently.
Use this continuation to add nuance, exceptions, or implications.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F72754-8BDD-E223-385B-8100EBCE01EF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BBBF258-ABB6-3BCE-96C8-C3C5DEC275D1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17D565-3ECC-A59B-693C-0B65B5B389F9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79019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385688-4B54-F75A-3873-152D763785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DB2E9-668C-7106-02B0-190550CF7A4D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Supply-side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0B36D-6552-8AAB-F770-7091EB16465C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Perceived profitability in the VN market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17938B-B112-230B-CFA5-6F02F1E2EEDF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22C16-A389-0D50-35EC-1280B7699B33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1/2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6B63F1-5C10-6011-5CF3-B147BB8A15F1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95E38F-F2A7-5142-137D-B9A0B255DFB0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EC9AE-A7D3-2995-7C1A-27BDC9013D9B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A68E7-156E-0037-6150-3DDDCD997E3B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Show whether developer and publisher economics make Vietnam worth prioritizing.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12C054-CD09-A621-3B4C-6C1014A3DADC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85722-D287-280B-AD1E-8B04F213E954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6A7DFF-68AC-DFE5-9FB5-EB8A275AFC79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Revenue pool attractiveness
- UA efficiency or CAC signals
- Monetization expectations
- Views from local operators or publishers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AA3A0E-C692-19FA-5B95-B773FEC7B747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92121D-F459-263A-0BF0-1AE312A9C0FB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E24174-11E7-CB88-59BE-BB9E6BA6EC1A}"/>
              </a:ext>
            </a:extLst>
          </p:cNvPr>
          <p:cNvSpPr txBox="1"/>
          <p:nvPr/>
        </p:nvSpPr>
        <p:spPr>
          <a:xfrm>
            <a:off x="6426200" y="1879600"/>
            <a:ext cx="4978400" cy="7540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Economics bridge, monetization benchmark chart, quote wall.
Use this first slide for framing, definitions, or the headline evidence.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A098E5-C9B8-2718-1EC7-EEDF308E7DB8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140C68-4AEA-F480-A5B4-DDC3C79ED787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2F50B-297C-247E-C356-45971E993E26}"/>
              </a:ext>
            </a:extLst>
          </p:cNvPr>
          <p:cNvSpPr txBox="1"/>
          <p:nvPr/>
        </p:nvSpPr>
        <p:spPr>
          <a:xfrm>
            <a:off x="6426200" y="4318000"/>
            <a:ext cx="4978400" cy="119263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Profitability perception affects how much serious studio talent stays focused on Vietnam rather than exporting globally.
Use this slide to land the first-order conclusion.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536A9C-92D2-22A3-3863-A586253E20DC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5338EA-FF2C-3A4C-FF78-3701649CE730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AF6934-08D7-376C-91DA-4F4DB20BAF92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481793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BB8852-66E4-A861-9F0E-09F1EEF0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C340E-5230-389B-4EDB-53534F169C94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Macro &amp; Cultural Factors &gt; Supply-side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69B3C-C0C6-B458-25F3-0971708E65CF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Perceived profitability in the VN market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95C39C-F115-DEB9-AF8D-C874734CE30A}"/>
              </a:ext>
            </a:extLst>
          </p:cNvPr>
          <p:cNvSpPr/>
          <p:nvPr/>
        </p:nvSpPr>
        <p:spPr>
          <a:xfrm>
            <a:off x="10058400" y="482600"/>
            <a:ext cx="1498600" cy="355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2FA83-805D-11BF-9F49-352FE97E3121}"/>
              </a:ext>
            </a:extLst>
          </p:cNvPr>
          <p:cNvSpPr txBox="1"/>
          <p:nvPr/>
        </p:nvSpPr>
        <p:spPr>
          <a:xfrm>
            <a:off x="10160000" y="546100"/>
            <a:ext cx="127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050" b="1">
                <a:solidFill>
                  <a:srgbClr val="801616"/>
                </a:solidFill>
                <a:latin typeface="Aptos" panose="020B0004020202020204" pitchFamily="34" charset="0"/>
              </a:rPr>
              <a:t>Placeholder 2/2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478498-86E3-30FA-933E-CC67761EF64E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BF5724-9BA3-5F16-CFF2-498906EDCD03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07591-EA39-2C55-76F9-463EB09736D7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7F363-F73D-E5C1-44D8-86BDDFAA6DF2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Show whether developer and publisher economics make Vietnam worth prioritizing.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47789B-8772-6958-B130-BCD9A2934AAE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A0187-A088-EA84-90B8-04A7D4D68EEB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DB695-4043-50BF-45B9-C340C5CBC500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Revenue pool attractiveness
- UA efficiency or CAC signals
- Monetization expectations
- Views from local operators or publishers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755FA3-C024-258E-5703-C57ABBA936DD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F06AC-3B53-6701-3BF4-52F39DE78E22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8C8AA9-32A3-AE10-E79C-0D8BD021FD0C}"/>
              </a:ext>
            </a:extLst>
          </p:cNvPr>
          <p:cNvSpPr txBox="1"/>
          <p:nvPr/>
        </p:nvSpPr>
        <p:spPr>
          <a:xfrm>
            <a:off x="6426200" y="1879600"/>
            <a:ext cx="49784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Economics bridge, monetization benchmark chart, quote wall.
Use this continuation to deepen examples, benchmarks, or risk nuance.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EB461A-CEAE-3FF6-A39E-B22EB515CBCE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CEC9CD-978E-3018-17B4-FCE0DCCE84B3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35C033-79BA-7B3D-0F97-2D16F8DCE032}"/>
              </a:ext>
            </a:extLst>
          </p:cNvPr>
          <p:cNvSpPr txBox="1"/>
          <p:nvPr/>
        </p:nvSpPr>
        <p:spPr>
          <a:xfrm>
            <a:off x="6426200" y="4318000"/>
            <a:ext cx="4978400" cy="140038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Profitability perception affects how much serious studio talent stays focused on Vietnam rather than exporting globally.
Use this continuation to add nuance, exceptions, or implications.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7852D9-59BB-BCFF-24A4-E144A936E2B1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68AEED0-AFD4-DA46-E350-0ED182444D6B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85ED6E-4979-0613-D23B-16F6268F7408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59536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2D72C5-9C9C-CF35-1163-784F283A5C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5E167-652C-9ECD-C1BD-E818D9519E96}"/>
              </a:ext>
            </a:extLst>
          </p:cNvPr>
          <p:cNvSpPr/>
          <p:nvPr/>
        </p:nvSpPr>
        <p:spPr>
          <a:xfrm>
            <a:off x="0" y="0"/>
            <a:ext cx="2794000" cy="68580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D4433B-F60E-6408-9418-050E2895D275}"/>
              </a:ext>
            </a:extLst>
          </p:cNvPr>
          <p:cNvSpPr/>
          <p:nvPr/>
        </p:nvSpPr>
        <p:spPr>
          <a:xfrm>
            <a:off x="609600" y="889000"/>
            <a:ext cx="1422400" cy="101600"/>
          </a:xfrm>
          <a:prstGeom prst="rect">
            <a:avLst/>
          </a:prstGeom>
          <a:solidFill>
            <a:srgbClr val="FFE6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67DFE-4571-5D5B-8BE6-2C91B0AE7B6D}"/>
              </a:ext>
            </a:extLst>
          </p:cNvPr>
          <p:cNvSpPr txBox="1"/>
          <p:nvPr/>
        </p:nvSpPr>
        <p:spPr>
          <a:xfrm>
            <a:off x="584200" y="13970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DEMAND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0C69D-E594-F59A-9964-6E4054AB74D0}"/>
              </a:ext>
            </a:extLst>
          </p:cNvPr>
          <p:cNvSpPr txBox="1"/>
          <p:nvPr/>
        </p:nvSpPr>
        <p:spPr>
          <a:xfrm>
            <a:off x="3225800" y="1498600"/>
            <a:ext cx="7620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434343"/>
                </a:solidFill>
                <a:latin typeface="Aptos Display" panose="020B0004020202020204" pitchFamily="34" charset="0"/>
              </a:rPr>
              <a:t>Overall Demand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6BC59E-71E1-4C44-FC17-5C1E5F1EC5A8}"/>
              </a:ext>
            </a:extLst>
          </p:cNvPr>
          <p:cNvSpPr/>
          <p:nvPr/>
        </p:nvSpPr>
        <p:spPr>
          <a:xfrm>
            <a:off x="3251200" y="2489200"/>
            <a:ext cx="7112000" cy="1828800"/>
          </a:xfrm>
          <a:prstGeom prst="roundRect">
            <a:avLst/>
          </a:prstGeom>
          <a:solidFill>
            <a:srgbClr val="F5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CB2EE-4E73-EF40-DAED-B1A0384EC5D1}"/>
              </a:ext>
            </a:extLst>
          </p:cNvPr>
          <p:cNvSpPr txBox="1"/>
          <p:nvPr/>
        </p:nvSpPr>
        <p:spPr>
          <a:xfrm>
            <a:off x="3530600" y="2768600"/>
            <a:ext cx="65278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434343"/>
                </a:solidFill>
                <a:latin typeface="Aptos" panose="020B0004020202020204" pitchFamily="34" charset="0"/>
              </a:rPr>
              <a:t>Quantify how much player demand exists today and how it may evolve.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D6D25-C6F1-02FA-0AB2-365A30958CB0}"/>
              </a:ext>
            </a:extLst>
          </p:cNvPr>
          <p:cNvSpPr txBox="1"/>
          <p:nvPr/>
        </p:nvSpPr>
        <p:spPr>
          <a:xfrm>
            <a:off x="3251200" y="4622800"/>
            <a:ext cx="5461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Aptos" panose="020B0004020202020204" pitchFamily="34" charset="0"/>
              </a:rPr>
              <a:t>This section starts as a placeholder structure and will be populated slide by slide.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845DE-EDAF-6FE2-3A3D-C2EFEDB7AB18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C72030-EB8E-B413-89D9-0F95C3B2DC14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48538-359A-0A59-165D-C95F267D0C50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34846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15F315-3A48-2F49-2F43-E42BA282A0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D8CAA-61EC-B4BD-13F8-72A5E605638E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Demand Analysis &gt; Overall 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0FD8C-FB83-BC47-D48C-6F451B277231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Historical overall demand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6B4AA2-8282-ECE6-55BE-6C9FC60C658B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3A3218-C88E-0231-467F-E18E2C6866DD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BDBA1-763D-1CDF-2E84-97019A947490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AE93B-0551-914F-71B5-5CF3095A070F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Measure the long-run size and growth of game demand in Vietnam across mobile and Steam-relevant PC demand.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162966-5D30-41EF-47C5-DD515BEF0B0C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9D0BC-4518-BEC5-6D95-54E7225FE34E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F211F-5FC2-08D0-24EA-59CA69FBE6B5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Downloads, DAU, revenue from 2010-2025
- Sensor Tower mobile
- Steam estimate for Vietnam
- Commentary on major phases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9B4528-29DF-E126-ACC5-E886F397C4F2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E21C9A-C42B-6580-3DB8-9100EDE32645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0AC076-76AC-2BD5-7356-D4C42E83FED3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Three-panel trend chart for downloads, DAU, and revenue.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2FD055-E80D-4734-725B-3315A819506E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1B337E-A454-4158-E5D9-9A5359A9AE44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75C9A-8494-9CEA-DBC9-AA9158DF7335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Demand trend should show whether Vietnam is still ramping structurally or maturing into a steadier market.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B9A592-3E97-5CE5-7D53-2F1CCC5C8634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12631E-8744-6491-A427-D65B3726E892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763A22-1A28-E177-3A80-EB4C1313517E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51660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A940DF-63F7-F60E-6B73-712D6C7FD4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155AB-9885-DBF3-BBCD-8155259E1344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Demand Analysis &gt; Overall 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D8748-1F93-C3A8-1F9E-A6B6FDDC8509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Forecasted overall demand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C1F285-49AC-C24D-E3A2-DF0B967F827E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1C9620-D708-4C39-C0CE-44D1B5BD701F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2A06E-055A-50BB-E58B-E647464AE079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B3C20-0DCA-2AE1-3407-8B42AE4D0947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Project the next 1-3 years of demand and tie the forecast back to macro conditions.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81A625-B58E-2510-485B-175B8DB8ECBF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D3B05-534C-2483-4EA8-8F276E815598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7CE5C4-959A-7EA4-62CC-044C1CB413DA}"/>
              </a:ext>
            </a:extLst>
          </p:cNvPr>
          <p:cNvSpPr txBox="1"/>
          <p:nvPr/>
        </p:nvSpPr>
        <p:spPr>
          <a:xfrm>
            <a:off x="685800" y="3556000"/>
            <a:ext cx="5054600" cy="7540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Qualitative forecast with autoregression model
- Confirmation or adjustment using macro and cultural factors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78B197-77C0-2832-6477-04EEFDC65FCA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49F6D-521B-A055-012F-AA9737316E15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ADCCC-1761-B1B2-8029-BDBF70A84CA8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Historical + forecast line chart with assumption callouts.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50DF9C-E311-5DD2-EE2F-82435CD31048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4C6B07-87BB-C139-E89C-D2C0DDF397A8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EB8D97-27FD-F815-649C-C61F445594F6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Forecast should separate baseline growth from upside driven by readiness factors.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D8AFB6-F4C3-EAD2-9D86-C5CFBA70E0A0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785B54-1A91-D098-E0B9-7A1D2E1D464E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BDCFF2-33AB-14F7-9B3C-653E8722A3AB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881904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036049-F8A1-1111-6413-5DBEB1929E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BB7814-7B2E-44CA-76B0-9A05B7836C1E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Demand Analysis &gt; Demand for Made in VN Games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1C988-C3BC-8395-D635-3D3B6E041F1A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Historical demand for Made in VN games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8853D7-1DCE-174E-89E9-54D7F275D3E8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3A758B-E24F-677C-29C6-A1CF5669E627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80CD-A71E-005E-8752-8B7FAA46DD59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EA6CD-1F79-B0E1-6196-2F29895F6F99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Test whether local games already have evidence of product-market fit in Vietnam.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F30EF3-439C-54A8-C846-0DC37A08B5FE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602EC-8442-551C-4BCA-49A5F6D5E126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11145-46CF-85A1-39FD-6AB45DA7C81A}"/>
              </a:ext>
            </a:extLst>
          </p:cNvPr>
          <p:cNvSpPr txBox="1"/>
          <p:nvPr/>
        </p:nvSpPr>
        <p:spPr>
          <a:xfrm>
            <a:off x="685800" y="3556000"/>
            <a:ext cx="50546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Downloads, DAU, revenue from 2010-2025
- Mobile and Steam estimates
- Data cleaning on identifying Made in VN titles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0092AF-1526-13CD-FCBD-0CFA23B5C1CD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4B2F2A-503F-90CE-C22E-997DC3B3FE00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28FDF9-9990-DFF1-5942-5E9E84C45D1A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Demand trend plus title-level breakout or cohort examples.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32F5DD-0E3E-2505-6B0A-CE8CD384CB6D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425FBC-A3C0-6C71-63CF-DF1771F29352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C5142E-8683-87C8-62EC-79BCC4102008}"/>
              </a:ext>
            </a:extLst>
          </p:cNvPr>
          <p:cNvSpPr txBox="1"/>
          <p:nvPr/>
        </p:nvSpPr>
        <p:spPr>
          <a:xfrm>
            <a:off x="6426200" y="4318000"/>
            <a:ext cx="4978400" cy="77713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If local-game demand is rising faster than total demand, Vietnam becomes more attractive as a sourcing market rather than only a distribution market.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383DB5-C5FA-4BBA-783A-3883FB9FC520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45459FF-9328-7E0B-6CFA-6AE6D87FF925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8D8D8C-C90E-BF09-BBC8-CE019B8DF2A3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1722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C61D06-F8F4-CB3B-4318-1F4F414BA7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31328-FB5F-F4DF-9F44-94EEB81777EC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Demand Analysis &gt; Demand for Made in VN Games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72C27-D979-7393-97AD-AE782789C39F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Forecasted demand for Made in VN games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0C81EA-8982-65E5-0D36-0F9915772788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4F6AA0-0B79-E8C6-5AE5-BC03F0AB7A45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86ED1F-3386-43AB-68F5-D663D5991BE6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B6F09-1E09-D5FB-3DA2-2EE9E726D3CE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Project whether local-title demand can outgrow the market over the next 1-3 years.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74948E-636C-2126-C645-FC731284C298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97C28-0D9E-A0E9-8489-9B853F7A22EE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141B4-2DA9-3201-D24D-A3479D8821D1}"/>
              </a:ext>
            </a:extLst>
          </p:cNvPr>
          <p:cNvSpPr txBox="1"/>
          <p:nvPr/>
        </p:nvSpPr>
        <p:spPr>
          <a:xfrm>
            <a:off x="685800" y="3556000"/>
            <a:ext cx="50546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Qualitative forecast with autoregression model
- Confirmation or adjustment using the macro and cultural factors above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CF58D8-39CA-CDBB-FB0A-BA3EE48AE89C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42E39-B692-BD0C-D561-67C95FF957FF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C35BF-7D7D-46FC-AF1C-4A02F923D4B3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Forecast bridge from current demand to 2026-2028 opportunity.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8C68F7-20A9-0109-9F6A-FB8A2C755832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3DD813-49D0-EEEF-7056-874D7B210946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5341D7-0FA0-59EE-5028-5D49C69BD106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The core question is whether readiness for local titles compounds quickly enough to create a sourcing window.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D974C6-C0E2-5C99-95B8-4E8C3E7353A0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BD932E-4392-0BF6-4A6B-E6143347266D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4257B-A1CA-18B0-7657-65BA411FF1F0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36428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08FAA2-F6EB-A57C-F999-0D1EA195AF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7ABEB2-7029-ABC2-FF4C-643A20B796EA}"/>
              </a:ext>
            </a:extLst>
          </p:cNvPr>
          <p:cNvSpPr/>
          <p:nvPr/>
        </p:nvSpPr>
        <p:spPr>
          <a:xfrm>
            <a:off x="0" y="0"/>
            <a:ext cx="2794000" cy="68580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CDE4E-3777-0059-1CD1-8FA25D158FDF}"/>
              </a:ext>
            </a:extLst>
          </p:cNvPr>
          <p:cNvSpPr/>
          <p:nvPr/>
        </p:nvSpPr>
        <p:spPr>
          <a:xfrm>
            <a:off x="609600" y="889000"/>
            <a:ext cx="1422400" cy="101600"/>
          </a:xfrm>
          <a:prstGeom prst="rect">
            <a:avLst/>
          </a:prstGeom>
          <a:solidFill>
            <a:srgbClr val="FFE6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37502-8103-AA6E-5791-04F6EBB4765A}"/>
              </a:ext>
            </a:extLst>
          </p:cNvPr>
          <p:cNvSpPr txBox="1"/>
          <p:nvPr/>
        </p:nvSpPr>
        <p:spPr>
          <a:xfrm>
            <a:off x="584200" y="13970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SUPPLY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3F359-74AE-747B-616A-ADB985BB6906}"/>
              </a:ext>
            </a:extLst>
          </p:cNvPr>
          <p:cNvSpPr txBox="1"/>
          <p:nvPr/>
        </p:nvSpPr>
        <p:spPr>
          <a:xfrm>
            <a:off x="3225800" y="1498600"/>
            <a:ext cx="7620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434343"/>
                </a:solidFill>
                <a:latin typeface="Aptos Display" panose="020B0004020202020204" pitchFamily="34" charset="0"/>
              </a:rPr>
              <a:t>Overall Supply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1D5DC3-1384-FB8C-D6C9-F4F582B04E87}"/>
              </a:ext>
            </a:extLst>
          </p:cNvPr>
          <p:cNvSpPr/>
          <p:nvPr/>
        </p:nvSpPr>
        <p:spPr>
          <a:xfrm>
            <a:off x="3251200" y="2489200"/>
            <a:ext cx="7112000" cy="1828800"/>
          </a:xfrm>
          <a:prstGeom prst="roundRect">
            <a:avLst/>
          </a:prstGeom>
          <a:solidFill>
            <a:srgbClr val="F5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D5944-A834-5FB5-4475-DFBDF37A2AA1}"/>
              </a:ext>
            </a:extLst>
          </p:cNvPr>
          <p:cNvSpPr txBox="1"/>
          <p:nvPr/>
        </p:nvSpPr>
        <p:spPr>
          <a:xfrm>
            <a:off x="3530600" y="2768600"/>
            <a:ext cx="65278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434343"/>
                </a:solidFill>
                <a:latin typeface="Aptos" panose="020B0004020202020204" pitchFamily="34" charset="0"/>
              </a:rPr>
              <a:t>Measure how much content is entering the market and where quality bottlenecks sit.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0CE55-0427-BA0F-011D-E66B3B8BC41E}"/>
              </a:ext>
            </a:extLst>
          </p:cNvPr>
          <p:cNvSpPr txBox="1"/>
          <p:nvPr/>
        </p:nvSpPr>
        <p:spPr>
          <a:xfrm>
            <a:off x="3251200" y="4622800"/>
            <a:ext cx="5461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Aptos" panose="020B0004020202020204" pitchFamily="34" charset="0"/>
              </a:rPr>
              <a:t>This section starts as a placeholder structure and will be populated slide by slide.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564179-2956-4F04-2134-F34473D21099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4E77D8-70AD-A5C2-115B-9E9E3517DCE3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F18F8-D31C-2FE4-42AC-FC5DB4D29E8D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493113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F0B505-33F6-D772-393D-7AF6B247E2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B6620-39DA-19A6-20AE-D7B7F37EABF9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Supply Analysis &gt; Overall Supply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97C9F-C375-79BA-B89C-B45088F54EDA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Historical overall supply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7F17E6-FD04-D2C0-2610-9C340CF1AAA0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CD8F7-67E5-B364-79A8-52D89F008B41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DAD833-AD21-7AF0-2A6B-25A1CD33F8A1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9328B-AC2E-BE85-EC05-DB3C66A70D90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Show how many new games are entering Vietnam and whether supply is crowding the market.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93771D-7E95-4FF9-CBC0-50267815862F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1528F-4882-0F54-662D-06053091A1F3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B96EB-3076-089C-E3A4-FB5681BCCA75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Mobile new releases on Vietnamese stores
- Officially licensed games
- Steam global new releases for reference
- ABEI licensing crawl input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2420DF-7AF4-1527-7339-D67AA5FE7E68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17F50-A9A8-45B9-557D-3719090479E5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2D828-A170-9FD8-162D-3E4E7A4C23BB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Supply trend line, licensed vs. total bars, reference panel for Steam.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454713-B3CB-AA70-E7BF-442DE610AF29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358BBA-82C3-BDAA-EC2B-CDFBC1DB6D3B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5D66E-E677-35A0-B763-A642CEF4C0AF}"/>
              </a:ext>
            </a:extLst>
          </p:cNvPr>
          <p:cNvSpPr txBox="1"/>
          <p:nvPr/>
        </p:nvSpPr>
        <p:spPr>
          <a:xfrm>
            <a:off x="6426200" y="4318000"/>
            <a:ext cx="4978400" cy="77713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Rising supply alone is not enough; the key is whether quality supply is growing fast enough to absorb demand.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14ABB9-1EAF-DDE9-9B90-ABDFD901CF0B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38AC596-AB00-25CA-429B-F41E30A5A45D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884E74-C30D-2D3A-597C-8039EA4626A5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67114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5EA774-AD09-D231-9E1D-ADD49D3B76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B58B1-4EC7-03D5-8A23-398E864FA2E0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Supply Analysis &gt; Overall Supply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A6C3A-DFA4-C6B2-37E6-E6AC3FA4284A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Forecasted overall supply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3A2D0F6-0BE9-70C8-DB0F-B0A09B745D57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C18E32-E1D5-647C-BCF4-5F64FE51181E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8F91F-BEB4-3336-C5C3-C496F4D23783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886E6-C052-DCEB-175F-3A3CE9126D40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Estimate the next 1-3 years of release volume and licensing activity.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38226F-6143-3C77-9D70-B2B013C9A8DE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FAF294-CE12-0DD4-2B20-EA23F1CDAFC8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0AAE9-5780-2788-80F8-51C19AD28380}"/>
              </a:ext>
            </a:extLst>
          </p:cNvPr>
          <p:cNvSpPr txBox="1"/>
          <p:nvPr/>
        </p:nvSpPr>
        <p:spPr>
          <a:xfrm>
            <a:off x="685800" y="3556000"/>
            <a:ext cx="5054600" cy="7540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Qualitative forecast with autoregression model
- Confirmation or adjustment using prior factors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758C9C-7244-E97D-06B3-9FF6B8CA29E8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1E6BD6-BFCD-251E-AE4E-86DC1B80224E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DB02FE-09E5-6F9B-24B5-CB3EC7C4408E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Historical + forecast bars with annotation on regulatory or studio drivers.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13113B-9D49-ACEF-9168-7EF237D7777A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DF7960-2C26-8A62-C95E-3BCE00A12C7E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84779-ED0D-8716-90EC-DA6AD6C5BFE3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A moderate supply ramp may still leave room if demand and quality expectations grow faster.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1F4E76-96EA-1E5D-032B-93904932AB33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6D0D28-8502-B691-DA20-71D2C1A5A23B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D65FA2-755D-C85D-108C-7CA65E428343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06596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6734AC-BA44-3FC0-8747-A908C8C8DB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E852F-3021-9A3D-9975-DC6CE960F50E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Supply Analysis &gt; Supply of Made in VN Games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B22C4-BC28-B0B7-6436-13DC537248DE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Historical supply of Made in VN games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97A0B1-AA01-67B3-135F-58218333C195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E2CE37-D044-E022-B4D0-8B296D603AAA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10D30B-114C-592F-C9E6-2CBC9511AD3A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EEB21-A78B-A781-E3F2-723ADBFF91CA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Measure whether Vietnamese studios have meaningfully scaled local output over time.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00E8EB-5D28-AF84-A009-4CC65DF389FE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C8C6E-51A3-4F70-302B-D2E7622F798C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A06DA-5AB5-F2DD-F3B6-155C658C9ADF}"/>
              </a:ext>
            </a:extLst>
          </p:cNvPr>
          <p:cNvSpPr txBox="1"/>
          <p:nvPr/>
        </p:nvSpPr>
        <p:spPr>
          <a:xfrm>
            <a:off x="685800" y="3556000"/>
            <a:ext cx="50546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Newly released Made in VN games on Vietnamese stores
- Official licenses for Made in VN titles
- Steam global releases from VN studios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75E787-F4DB-819F-B8F1-8ED625180CF4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A5C31D-A330-0762-0CE2-4168B3D1D6CF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E2E9CE-D4CE-58B1-14E0-3ACB55E742EE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Local supply trend, studio count trend, notable release examples.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E69863-4BE7-173B-F947-9F5D1705F78A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44C00-5193-7C36-56BD-530886A07E6A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1521B-5575-C9B0-5FF8-70FAFC33154C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If local supply remains thin relative to demand potential, sourcing leverage improves.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51BC7A-C510-22EF-CC28-E895384126F8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5CE515B-7783-E1BC-BA83-CFBD9BA30CB7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E05CD-31C2-C469-E6C0-60B071248CAD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1417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9E78D-1128-9044-F4BA-3C28A2ABEF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42122-4DEF-C916-B60F-8E8B0155FABE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Supply Analysis &gt; Supply of Made in VN Games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0B74F-EAE5-AA59-8D94-EE3505218EF7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Forecasted supply for Made in VN games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9A7848-5057-0EA5-BE08-3C24C2FD90DE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115A35-FE1F-93FD-0B35-D03E27D79768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7DB29-A555-80E2-5729-0AB85A151F32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DE1E8-86D7-3D53-28BB-454E2E451110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Project whether local output can fill the opportunity window quickly or slowly.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FACFAA-2EE7-87D8-3925-D455316B23C8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A2B17-8E4C-27F6-354F-DA737CF6F44C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0050C-9769-1804-6586-4AECA9406988}"/>
              </a:ext>
            </a:extLst>
          </p:cNvPr>
          <p:cNvSpPr txBox="1"/>
          <p:nvPr/>
        </p:nvSpPr>
        <p:spPr>
          <a:xfrm>
            <a:off x="685800" y="3556000"/>
            <a:ext cx="50546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Qualitative forecast with autoregression model
- Confirmation or adjustment using studio capability and profitability perceptions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E96B9E-812E-044D-E4A3-575712BD63EC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609B9-FD91-730B-F806-F19D4138560A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4F93EC-29F7-7AE8-A501-7357B5CDA438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Supply forecast with scenarios: base, upside, constrained.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8A0A48-491F-72E9-44C9-9947BC009D95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BFE5AF-DD4F-7D72-404D-4305D05D9C5E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631D5C-DFF5-ABB9-4F2A-C4CCA26E225C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Opportunity is strongest if local supply growth lags local demand growth for quality titles.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6E0975-7A65-D58E-35CA-5A3CE702007E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C5E86E1-B2E0-3BA0-8245-346521ECC3F5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94A6B-E7A5-7904-7C9C-6BD0C128727B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83008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BF3314-A19D-00B9-1473-C549CEF3F9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0AA82-4070-1B1B-A5E0-C381F0B3BE1F}"/>
              </a:ext>
            </a:extLst>
          </p:cNvPr>
          <p:cNvSpPr/>
          <p:nvPr/>
        </p:nvSpPr>
        <p:spPr>
          <a:xfrm>
            <a:off x="0" y="0"/>
            <a:ext cx="2794000" cy="68580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A784F-7EBC-A06A-741F-867F93472056}"/>
              </a:ext>
            </a:extLst>
          </p:cNvPr>
          <p:cNvSpPr/>
          <p:nvPr/>
        </p:nvSpPr>
        <p:spPr>
          <a:xfrm>
            <a:off x="609600" y="889000"/>
            <a:ext cx="1422400" cy="101600"/>
          </a:xfrm>
          <a:prstGeom prst="rect">
            <a:avLst/>
          </a:prstGeom>
          <a:solidFill>
            <a:srgbClr val="FFE6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BA495-E3F7-1083-0327-099F46D475F2}"/>
              </a:ext>
            </a:extLst>
          </p:cNvPr>
          <p:cNvSpPr txBox="1"/>
          <p:nvPr/>
        </p:nvSpPr>
        <p:spPr>
          <a:xfrm>
            <a:off x="584200" y="1397000"/>
            <a:ext cx="1905000" cy="52322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DEMAND-SUPPLY BALANCE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97368-3FA5-5E0D-2FC0-9C20C29C9998}"/>
              </a:ext>
            </a:extLst>
          </p:cNvPr>
          <p:cNvSpPr txBox="1"/>
          <p:nvPr/>
        </p:nvSpPr>
        <p:spPr>
          <a:xfrm>
            <a:off x="3225800" y="1498600"/>
            <a:ext cx="7620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434343"/>
                </a:solidFill>
                <a:latin typeface="Aptos Display" panose="020B0004020202020204" pitchFamily="34" charset="0"/>
              </a:rPr>
              <a:t>Overall Demand-Supply Balance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B2B49E-50D5-9074-CBC6-C25F1FF85C12}"/>
              </a:ext>
            </a:extLst>
          </p:cNvPr>
          <p:cNvSpPr/>
          <p:nvPr/>
        </p:nvSpPr>
        <p:spPr>
          <a:xfrm>
            <a:off x="3251200" y="2489200"/>
            <a:ext cx="7112000" cy="1828800"/>
          </a:xfrm>
          <a:prstGeom prst="roundRect">
            <a:avLst/>
          </a:prstGeom>
          <a:solidFill>
            <a:srgbClr val="F5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0C9B2-9F14-0C5A-9017-164569F7E44E}"/>
              </a:ext>
            </a:extLst>
          </p:cNvPr>
          <p:cNvSpPr txBox="1"/>
          <p:nvPr/>
        </p:nvSpPr>
        <p:spPr>
          <a:xfrm>
            <a:off x="3530600" y="2768600"/>
            <a:ext cx="65278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434343"/>
                </a:solidFill>
                <a:latin typeface="Aptos" panose="020B0004020202020204" pitchFamily="34" charset="0"/>
              </a:rPr>
              <a:t>Synthesize the market gap into a sourcing opportunity lens.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7E3E8-9D64-8D96-EBDF-88E946D01069}"/>
              </a:ext>
            </a:extLst>
          </p:cNvPr>
          <p:cNvSpPr txBox="1"/>
          <p:nvPr/>
        </p:nvSpPr>
        <p:spPr>
          <a:xfrm>
            <a:off x="3251200" y="4622800"/>
            <a:ext cx="5461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Aptos" panose="020B0004020202020204" pitchFamily="34" charset="0"/>
              </a:rPr>
              <a:t>This section starts as a placeholder structure and will be populated slide by slide.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E23FF5-C994-6C52-2700-26EB8B3B4E97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90C403-18CC-1117-25C0-819D3A3900D3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9E94C-8392-1CD8-D2D6-19C1DC9A1440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556596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44764C-ED77-F6A6-75AB-7E57C89741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6D002-69AE-7D92-0CFC-2083FB0D2E72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Demand-Supply Balance &gt; Overall Demand-Supply Balance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97CA44-D8B7-E2E4-1044-F645B5B727CE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Overall demand-supply balance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32AAB5-7F1D-6027-8109-95A7E0DEE118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A11816-E67E-F2AA-A119-C1DCBE0CB1C2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1EC6A-A700-B822-2BF2-C9EB45CD05D8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126D15-AAF5-683B-8A43-4399839D4397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Synthesize whether Vietnam is becoming more crowded or more open at the market level.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905FC0-A099-0C63-AE2B-AF3C15B25A91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B6489-EFBE-F7FC-69E0-33B115C33F67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5D922-D265-D5EB-B332-734C975008E7}"/>
              </a:ext>
            </a:extLst>
          </p:cNvPr>
          <p:cNvSpPr txBox="1"/>
          <p:nvPr/>
        </p:nvSpPr>
        <p:spPr>
          <a:xfrm>
            <a:off x="685800" y="3556000"/>
            <a:ext cx="5054600" cy="95410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Demand vs. supply trend
- Saturation or whitespace indicators
- Implication for mobile and PC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4312D5-6688-9330-51BE-2D4BB7928F66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2D8E9A-1C7D-718E-6971-2D8FCAF43444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672E6-13FA-AB90-AC8D-3F09E5BBBB70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Demand-supply gap chart, opportunity quadrant, or market heatmap.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DCAFC0-3B42-A22C-E179-F6DB38E20C13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611FC4-A295-3F97-9272-3A93059472D5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A1BFB9-4888-65CF-5F10-AF45725B7203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Opportunity depends on the size and persistence of the imbalance, not just on demand growth alone.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C38805-0E92-BE27-5F8D-A92C7FCDB3B6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621959-1FAB-F41C-D109-C9C53134B051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307D6E-3445-9C40-DD3E-C43275301AF3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596949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1215F3-9A90-C15C-D590-F604CA5EF9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82186-FD3E-25D3-7D19-993FF4B88823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Demand-Supply Balance &gt; Demand-Supply Balance for Made in VN Games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B53D5-FA88-5D46-AF6F-AB356A8E239E}"/>
              </a:ext>
            </a:extLst>
          </p:cNvPr>
          <p:cNvSpPr txBox="1"/>
          <p:nvPr/>
        </p:nvSpPr>
        <p:spPr>
          <a:xfrm>
            <a:off x="482600" y="533400"/>
            <a:ext cx="87630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Demand-supply balance for Made in VN games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068D5C-A484-47AA-2A8D-687540DFA702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8979DE-2C98-E324-AC19-5F9F3BC4082E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AF0EB-26FC-9DC8-31C8-12B351C6F7D9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86D88-4EAE-F448-0F1B-F55707279D5E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Answer the key sourcing question: is there an underserved space for high-quality local titles?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D4DCAD-D68E-6392-FE37-EE1614B15906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F3D5DC-E61E-2330-4B13-1DFB48A1FF58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84DC7-7FA4-25F4-3795-6A56ABB1D72C}"/>
              </a:ext>
            </a:extLst>
          </p:cNvPr>
          <p:cNvSpPr txBox="1"/>
          <p:nvPr/>
        </p:nvSpPr>
        <p:spPr>
          <a:xfrm>
            <a:off x="685800" y="3556000"/>
            <a:ext cx="5054600" cy="115416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To fill later:
- Local demand vs. local supply
- Quality-adjusted gap
- Genre-specific whitespace
- 1-3 year timing view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132DBD-9617-BB20-BB37-8208DFAFE591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E6841-0C03-0269-C2A9-F868C59BA076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F1C61-C4A9-A5B6-BA66-DE28F80238D2}"/>
              </a:ext>
            </a:extLst>
          </p:cNvPr>
          <p:cNvSpPr txBox="1"/>
          <p:nvPr/>
        </p:nvSpPr>
        <p:spPr>
          <a:xfrm>
            <a:off x="6426200" y="1879600"/>
            <a:ext cx="49784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Gap-to-opportunity bridge or genre whitespace matrix.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BF76CA-CAF7-7EED-1E63-F706AA5B5546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C5C54-2524-00F8-A9A9-947349C51B08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51235-F0B5-BAD5-CDE1-2EB7A0D59632}"/>
              </a:ext>
            </a:extLst>
          </p:cNvPr>
          <p:cNvSpPr txBox="1"/>
          <p:nvPr/>
        </p:nvSpPr>
        <p:spPr>
          <a:xfrm>
            <a:off x="6426200" y="4318000"/>
            <a:ext cx="49784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The best sourcing case emerges when demand readiness outpaces the supply of credible Made in VN titles.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912A60-6201-087A-07E0-39D10113FCFB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A011DCD-7E25-B3A2-1FF5-2047ABBB9B6E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1844D-B80D-300E-4F59-88BC039D3471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7028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B42FF8-2154-FFB9-1B2D-D3727489C9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654A8A-5C2F-3284-FE7A-5D1E1CE3AC80}"/>
              </a:ext>
            </a:extLst>
          </p:cNvPr>
          <p:cNvSpPr/>
          <p:nvPr/>
        </p:nvSpPr>
        <p:spPr>
          <a:xfrm>
            <a:off x="0" y="0"/>
            <a:ext cx="2794000" cy="6858000"/>
          </a:xfrm>
          <a:prstGeom prst="rect">
            <a:avLst/>
          </a:prstGeom>
          <a:solidFill>
            <a:srgbClr val="E31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928872-9810-C67A-4590-649585EFB2A0}"/>
              </a:ext>
            </a:extLst>
          </p:cNvPr>
          <p:cNvSpPr/>
          <p:nvPr/>
        </p:nvSpPr>
        <p:spPr>
          <a:xfrm>
            <a:off x="609600" y="889000"/>
            <a:ext cx="1422400" cy="101600"/>
          </a:xfrm>
          <a:prstGeom prst="rect">
            <a:avLst/>
          </a:prstGeom>
          <a:solidFill>
            <a:srgbClr val="FFE6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9C7E6-5344-869E-9BCA-8ACA398B0C78}"/>
              </a:ext>
            </a:extLst>
          </p:cNvPr>
          <p:cNvSpPr txBox="1"/>
          <p:nvPr/>
        </p:nvSpPr>
        <p:spPr>
          <a:xfrm>
            <a:off x="584200" y="13970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24D03-539B-04FD-151E-3DF6778D5797}"/>
              </a:ext>
            </a:extLst>
          </p:cNvPr>
          <p:cNvSpPr txBox="1"/>
          <p:nvPr/>
        </p:nvSpPr>
        <p:spPr>
          <a:xfrm>
            <a:off x="3225800" y="1498600"/>
            <a:ext cx="7620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434343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A78D7-9363-662C-BD62-DAD9C91397A1}"/>
              </a:ext>
            </a:extLst>
          </p:cNvPr>
          <p:cNvSpPr/>
          <p:nvPr/>
        </p:nvSpPr>
        <p:spPr>
          <a:xfrm>
            <a:off x="3251200" y="2489200"/>
            <a:ext cx="7112000" cy="1828800"/>
          </a:xfrm>
          <a:prstGeom prst="roundRect">
            <a:avLst/>
          </a:prstGeom>
          <a:solidFill>
            <a:srgbClr val="F5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E8ADE7-4A00-1DCF-7879-11D82C1ABDB5}"/>
              </a:ext>
            </a:extLst>
          </p:cNvPr>
          <p:cNvSpPr txBox="1"/>
          <p:nvPr/>
        </p:nvSpPr>
        <p:spPr>
          <a:xfrm>
            <a:off x="3530600" y="2768600"/>
            <a:ext cx="65278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434343"/>
                </a:solidFill>
                <a:latin typeface="Aptos" panose="020B0004020202020204" pitchFamily="34" charset="0"/>
              </a:rPr>
              <a:t>Close with a direct recommendation and the practical implication for 2026 sourcing.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3940A-EF0B-B5B4-92EF-04152D3848C9}"/>
              </a:ext>
            </a:extLst>
          </p:cNvPr>
          <p:cNvSpPr txBox="1"/>
          <p:nvPr/>
        </p:nvSpPr>
        <p:spPr>
          <a:xfrm>
            <a:off x="3251200" y="4622800"/>
            <a:ext cx="5461000" cy="3231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E6E6E"/>
                </a:solidFill>
                <a:latin typeface="Aptos" panose="020B0004020202020204" pitchFamily="34" charset="0"/>
              </a:rPr>
              <a:t>This section starts as a placeholder structure and will be populated slide by slide.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531A8F-838B-C04F-78D9-52324BF96541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1AAEAD-C83D-E865-1F8A-BC5072743533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9FCFD-785C-1C85-F107-72FB4AF25888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18410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1206B8-33A6-9FFC-1C6F-478FB7CC2A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A7756-3257-2322-687E-5A3F125B55D2}"/>
              </a:ext>
            </a:extLst>
          </p:cNvPr>
          <p:cNvSpPr txBox="1"/>
          <p:nvPr/>
        </p:nvSpPr>
        <p:spPr>
          <a:xfrm>
            <a:off x="508000" y="254000"/>
            <a:ext cx="4826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 b="1">
                <a:solidFill>
                  <a:srgbClr val="E31F25"/>
                </a:solidFill>
                <a:latin typeface="Aptos" panose="020B0004020202020204" pitchFamily="34" charset="0"/>
              </a:rPr>
              <a:t>Conclusion &gt;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5A068-B27D-AD7D-60FE-C5298B4F8F7D}"/>
              </a:ext>
            </a:extLst>
          </p:cNvPr>
          <p:cNvSpPr txBox="1"/>
          <p:nvPr/>
        </p:nvSpPr>
        <p:spPr>
          <a:xfrm>
            <a:off x="482600" y="533400"/>
            <a:ext cx="8763000" cy="86177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300" b="1">
                <a:solidFill>
                  <a:srgbClr val="434343"/>
                </a:solidFill>
                <a:latin typeface="Aptos Display" panose="020B0004020202020204" pitchFamily="34" charset="0"/>
              </a:rPr>
              <a:t>Conclusion: does Vietnam offer a sharp sourcing opportunity in 2026?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B69DE0-66BD-C4BE-283C-3973AD4C8EF4}"/>
              </a:ext>
            </a:extLst>
          </p:cNvPr>
          <p:cNvCxnSpPr/>
          <p:nvPr/>
        </p:nvCxnSpPr>
        <p:spPr>
          <a:xfrm>
            <a:off x="508000" y="1092200"/>
            <a:ext cx="11176000" cy="0"/>
          </a:xfrm>
          <a:prstGeom prst="line">
            <a:avLst/>
          </a:prstGeom>
          <a:ln w="1143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269782-78C7-1668-F14F-DCF50CC754B2}"/>
              </a:ext>
            </a:extLst>
          </p:cNvPr>
          <p:cNvSpPr/>
          <p:nvPr/>
        </p:nvSpPr>
        <p:spPr>
          <a:xfrm>
            <a:off x="508000" y="1346200"/>
            <a:ext cx="5461000" cy="1498600"/>
          </a:xfrm>
          <a:prstGeom prst="roundRect">
            <a:avLst/>
          </a:prstGeom>
          <a:solidFill>
            <a:srgbClr val="FC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4602C-A13D-74D9-F9C1-1D2288D6D307}"/>
              </a:ext>
            </a:extLst>
          </p:cNvPr>
          <p:cNvSpPr txBox="1"/>
          <p:nvPr/>
        </p:nvSpPr>
        <p:spPr>
          <a:xfrm>
            <a:off x="7112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Objective / storyline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E780A-22F6-2023-BDC2-405BEE5942D8}"/>
              </a:ext>
            </a:extLst>
          </p:cNvPr>
          <p:cNvSpPr txBox="1"/>
          <p:nvPr/>
        </p:nvSpPr>
        <p:spPr>
          <a:xfrm>
            <a:off x="685800" y="1879600"/>
            <a:ext cx="50546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434343"/>
                </a:solidFill>
                <a:latin typeface="Aptos" panose="020B0004020202020204" pitchFamily="34" charset="0"/>
              </a:rPr>
              <a:t>Wrap the deck with a direct answer, supporting logic, risks, and recommendation.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085BC8-C418-193D-394F-9A77950E3F43}"/>
              </a:ext>
            </a:extLst>
          </p:cNvPr>
          <p:cNvSpPr/>
          <p:nvPr/>
        </p:nvSpPr>
        <p:spPr>
          <a:xfrm>
            <a:off x="508000" y="3022600"/>
            <a:ext cx="5461000" cy="30226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310B9-64EE-7C4A-3AFD-1E288BAAB4CE}"/>
              </a:ext>
            </a:extLst>
          </p:cNvPr>
          <p:cNvSpPr txBox="1"/>
          <p:nvPr/>
        </p:nvSpPr>
        <p:spPr>
          <a:xfrm>
            <a:off x="711200" y="3200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Evidence to 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8B3DB-A8CB-7AFF-1626-1CD1C95A66A6}"/>
              </a:ext>
            </a:extLst>
          </p:cNvPr>
          <p:cNvSpPr txBox="1"/>
          <p:nvPr/>
        </p:nvSpPr>
        <p:spPr>
          <a:xfrm>
            <a:off x="685800" y="3556000"/>
            <a:ext cx="5054600" cy="135421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Insert from outline:
- Strong opportunity or not
- Why demand is increasing and conditions are ready
- Why supply stays low
- Key challenge: development + LiveOps vs. international competition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55B6E2-CCB9-4B5D-4952-5C9EF77D14A7}"/>
              </a:ext>
            </a:extLst>
          </p:cNvPr>
          <p:cNvSpPr/>
          <p:nvPr/>
        </p:nvSpPr>
        <p:spPr>
          <a:xfrm>
            <a:off x="6248400" y="1346200"/>
            <a:ext cx="5435600" cy="2235200"/>
          </a:xfrm>
          <a:prstGeom prst="roundRect">
            <a:avLst/>
          </a:prstGeom>
          <a:solidFill>
            <a:srgbClr val="F7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F0D97-36D7-A66C-BC6A-33EC5A445693}"/>
              </a:ext>
            </a:extLst>
          </p:cNvPr>
          <p:cNvSpPr txBox="1"/>
          <p:nvPr/>
        </p:nvSpPr>
        <p:spPr>
          <a:xfrm>
            <a:off x="6451600" y="1524000"/>
            <a:ext cx="2032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E31F25"/>
                </a:solidFill>
                <a:latin typeface="Aptos" panose="020B0004020202020204" pitchFamily="34" charset="0"/>
              </a:rPr>
              <a:t>Suggested visual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22862-49FB-8165-76DB-EE31A67641CF}"/>
              </a:ext>
            </a:extLst>
          </p:cNvPr>
          <p:cNvSpPr txBox="1"/>
          <p:nvPr/>
        </p:nvSpPr>
        <p:spPr>
          <a:xfrm>
            <a:off x="6426200" y="1879600"/>
            <a:ext cx="49784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434343"/>
                </a:solidFill>
                <a:latin typeface="Aptos" panose="020B0004020202020204" pitchFamily="34" charset="0"/>
              </a:rPr>
              <a:t>Final recommendation page with confidence level, proof points, and next steps.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1003ED-9B3C-7CE4-0D1F-0B6AF0507686}"/>
              </a:ext>
            </a:extLst>
          </p:cNvPr>
          <p:cNvSpPr/>
          <p:nvPr/>
        </p:nvSpPr>
        <p:spPr>
          <a:xfrm>
            <a:off x="6248400" y="3784600"/>
            <a:ext cx="5435600" cy="2260600"/>
          </a:xfrm>
          <a:prstGeom prst="roundRect">
            <a:avLst/>
          </a:prstGeom>
          <a:solidFill>
            <a:srgbClr val="FA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F0FE24-4D3B-53E4-5AAE-D492079E7C23}"/>
              </a:ext>
            </a:extLst>
          </p:cNvPr>
          <p:cNvSpPr txBox="1"/>
          <p:nvPr/>
        </p:nvSpPr>
        <p:spPr>
          <a:xfrm>
            <a:off x="6451600" y="3962400"/>
            <a:ext cx="19050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 b="1">
                <a:solidFill>
                  <a:srgbClr val="801616"/>
                </a:solidFill>
                <a:latin typeface="Aptos" panose="020B0004020202020204" pitchFamily="34" charset="0"/>
              </a:rPr>
              <a:t>Draft takeaway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6814D3-C85E-9798-8805-E67520DAEF63}"/>
              </a:ext>
            </a:extLst>
          </p:cNvPr>
          <p:cNvSpPr txBox="1"/>
          <p:nvPr/>
        </p:nvSpPr>
        <p:spPr>
          <a:xfrm>
            <a:off x="6426200" y="4318000"/>
            <a:ext cx="4978400" cy="77713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434343"/>
                </a:solidFill>
                <a:latin typeface="Aptos" panose="020B0004020202020204" pitchFamily="34" charset="0"/>
              </a:rPr>
              <a:t>Draft message: The final call should clearly state whether Vietnam deserves focused sourcing attention in the next 1-3 years.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A68D75-2DDB-F6BA-EB1D-F8526A7B465C}"/>
              </a:ext>
            </a:extLst>
          </p:cNvPr>
          <p:cNvCxnSpPr/>
          <p:nvPr/>
        </p:nvCxnSpPr>
        <p:spPr>
          <a:xfrm>
            <a:off x="0" y="6819900"/>
            <a:ext cx="12192000" cy="0"/>
          </a:xfrm>
          <a:prstGeom prst="line">
            <a:avLst/>
          </a:prstGeom>
          <a:ln w="28575">
            <a:solidFill>
              <a:srgbClr val="80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944ADAF-F790-9F46-6D3D-123E262BD970}"/>
              </a:ext>
            </a:extLst>
          </p:cNvPr>
          <p:cNvSpPr txBox="1"/>
          <p:nvPr/>
        </p:nvSpPr>
        <p:spPr>
          <a:xfrm>
            <a:off x="457200" y="6426200"/>
            <a:ext cx="6350000" cy="30008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950">
                <a:solidFill>
                  <a:srgbClr val="6E6E6E"/>
                </a:solidFill>
                <a:latin typeface="Aptos" panose="020B0004020202020204" pitchFamily="34" charset="0"/>
              </a:rPr>
              <a:t>VN Gaming Market Opportunity 2026 | Official deck skeleton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6A953-1063-9716-3C68-193EFC90DC90}"/>
              </a:ext>
            </a:extLst>
          </p:cNvPr>
          <p:cNvSpPr txBox="1"/>
          <p:nvPr/>
        </p:nvSpPr>
        <p:spPr>
          <a:xfrm>
            <a:off x="11226800" y="6400800"/>
            <a:ext cx="508000" cy="30777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000" b="1">
                <a:solidFill>
                  <a:srgbClr val="6E6E6E"/>
                </a:solidFill>
                <a:latin typeface="Aptos" panose="020B0004020202020204" pitchFamily="34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8135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3649</Words>
  <Application>Microsoft Office PowerPoint</Application>
  <PresentationFormat>Custom</PresentationFormat>
  <Paragraphs>391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Tien Dat [VEE0634]</dc:creator>
  <cp:lastModifiedBy>Nguyen Tien Dat [VEE0634]</cp:lastModifiedBy>
  <cp:revision>1</cp:revision>
  <dcterms:created xsi:type="dcterms:W3CDTF">2026-05-19T08:20:00Z</dcterms:created>
  <dcterms:modified xsi:type="dcterms:W3CDTF">2026-05-19T08:20:00Z</dcterms:modified>
</cp:coreProperties>
</file>
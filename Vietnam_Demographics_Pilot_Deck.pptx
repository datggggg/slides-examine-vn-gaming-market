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4DF8-DE22-58FE-A9B6-9F857078C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690A8-55F6-9A41-51BE-6AC02400C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35F8E-9698-F7C8-65C3-956A54A2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E4C42-A6B9-B4EC-08E8-1AD1107D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7568A-4B1B-7055-FDC7-939E6138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4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38D5-C1DD-16F4-6225-EC980762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05375-4A4D-F9D5-F7D6-01E29CAC8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CD1AB-E2D8-E548-CB66-B487B8C1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907A0-D8E3-7466-CB94-4AE64387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DB845-2E2A-2BDC-0C92-043FF57D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5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470F2-C303-DD26-FC39-82F9938C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9576-50EC-B131-A77E-9A142E13D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7364E-AF92-92CF-93AF-4F8696CC0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4BF0-06B9-642F-C7C0-574D3172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288E1-DA27-9971-F6CE-BF34EA89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6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4CDF-C255-6E56-0FAF-83DF8EA8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769CE-18FA-BEDE-97BC-1546E6F7B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BA987-84B1-CA46-9356-1E4FDEEB0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D3A1B-D254-EDAB-5A8C-E796FE17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8E66D-609C-2DDA-42F1-537AFDDA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A827D-82C6-A85F-577E-AE8DCF8A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67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0D33-5223-3876-4F3F-853AEBE56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3BC65-015D-F9EA-8C41-4DB329CB2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6FE5F-BEB3-6632-8500-1F6CE460F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A84FB-1039-C139-BEE3-1997F4771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312F1-1872-7775-DFA9-927A7128B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1CE94-49A1-E8F7-C314-3A2AA78B1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0088B5-1797-559E-EA56-744F6A12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09F1C1-2CFE-DA8B-D230-FE6F234C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1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075E-388C-21E5-BC35-06E1E74C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7A880C-676A-C779-F47E-B095C3A0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E1454-8857-DD7F-D759-36A1C5DA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E206C-B008-6143-4CDF-E87CCCCE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2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E35C2-E2DE-C6F4-E3BC-003E0C90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90FA6-4CA0-E0B0-E36E-3A477D9D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B1370-073B-7BA8-AE21-591B197B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B846-9123-CA66-BC5B-9DFF7809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19F10-7E99-553A-762C-97161B3E9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0C74B-9B4D-4986-15B8-ADF7A54FD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3596B-43A8-63D4-A0CE-02D58D47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CB37E-2737-3DEC-EB77-C19D1CB5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120B8-C5D4-BF45-C020-7715A624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8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366D-E8AB-273C-4090-FBE6E955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E4D1FE-B4CA-E4DC-11A3-3B4A3B308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5F353-5458-1443-D681-D92577717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2A216-FA63-0311-5FFA-1E6C0CE2D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EC113-A531-3E82-0B16-E24DA9A9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443F7-AEAE-7FDE-9DC6-B5E034DD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6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9B27-574B-F20A-5107-33A3F026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21CD5-07A8-DC73-6CCD-5933D76FB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D5B4A-062B-FC55-B7B9-E8E4D5CE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D96FE-198A-8E82-5022-52FAF7290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B1CA1-B87A-D09F-E9A0-AEFBEA59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1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2C5D97-D6D9-0E54-9BEC-9A8FEB35D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69A15-9B15-E61E-8DCD-42A3826E6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B0D1A-FEAD-521A-D35F-6A9B6E225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632F-651D-35CE-7A7E-87E2C112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B876D-8D16-B797-9060-34B6026B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8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9EB45-B568-93BA-05AB-F2642944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5ECAB-C6DC-F7B2-50C4-1B41E15AD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D7154-81BC-0989-B3CC-24FB155E1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15EF-18CB-4528-9875-A540F2B6BF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EA23C-9E92-B767-0C34-FE758DEAE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41667-F0E4-7E13-73A5-59B8849E8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E0A74-0815-44BE-96CC-CF3807F52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F7F71E-1C15-AE99-E188-1F2A059606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5638A3-9E91-14AF-EDB1-5ED570332D74}"/>
              </a:ext>
            </a:extLst>
          </p:cNvPr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solidFill>
            <a:srgbClr val="9B2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592691-4A30-57BE-6730-309B98FE64FC}"/>
              </a:ext>
            </a:extLst>
          </p:cNvPr>
          <p:cNvSpPr/>
          <p:nvPr/>
        </p:nvSpPr>
        <p:spPr>
          <a:xfrm>
            <a:off x="7416800" y="660400"/>
            <a:ext cx="1397000" cy="1397000"/>
          </a:xfrm>
          <a:prstGeom prst="rect">
            <a:avLst/>
          </a:prstGeom>
          <a:solidFill>
            <a:srgbClr val="D2A04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51F6B0-7A70-E540-7440-7BF654AD27CA}"/>
              </a:ext>
            </a:extLst>
          </p:cNvPr>
          <p:cNvSpPr/>
          <p:nvPr/>
        </p:nvSpPr>
        <p:spPr>
          <a:xfrm>
            <a:off x="9652000" y="3810000"/>
            <a:ext cx="1676400" cy="1676400"/>
          </a:xfrm>
          <a:prstGeom prst="roundRect">
            <a:avLst/>
          </a:prstGeom>
          <a:solidFill>
            <a:srgbClr val="D2A046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DF96C-89C3-00E2-BBC7-DEB052C24BDD}"/>
              </a:ext>
            </a:extLst>
          </p:cNvPr>
          <p:cNvSpPr txBox="1"/>
          <p:nvPr/>
        </p:nvSpPr>
        <p:spPr>
          <a:xfrm>
            <a:off x="812800" y="889000"/>
            <a:ext cx="6350000" cy="38472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500" b="1">
                <a:solidFill>
                  <a:srgbClr val="9B2226"/>
                </a:solidFill>
                <a:latin typeface="Aptos" panose="020B0004020202020204" pitchFamily="34" charset="0"/>
              </a:rPr>
              <a:t>Pilot Deck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88172-DCE2-BACD-923B-83FDDDEE58FC}"/>
              </a:ext>
            </a:extLst>
          </p:cNvPr>
          <p:cNvSpPr txBox="1"/>
          <p:nvPr/>
        </p:nvSpPr>
        <p:spPr>
          <a:xfrm>
            <a:off x="762000" y="1422400"/>
            <a:ext cx="66040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22262E"/>
                </a:solidFill>
                <a:latin typeface="Aptos Display" panose="020B0004020202020204" pitchFamily="34" charset="0"/>
              </a:rPr>
              <a:t>Overview of Vietnam demographics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F77EE-434F-C2B1-2358-7ADC18D6DEBA}"/>
              </a:ext>
            </a:extLst>
          </p:cNvPr>
          <p:cNvSpPr txBox="1"/>
          <p:nvPr/>
        </p:nvSpPr>
        <p:spPr>
          <a:xfrm>
            <a:off x="762000" y="3530600"/>
            <a:ext cx="5969000" cy="93871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700">
                <a:solidFill>
                  <a:srgbClr val="66635C"/>
                </a:solidFill>
                <a:latin typeface="Aptos" panose="020B0004020202020204" pitchFamily="34" charset="0"/>
              </a:rPr>
              <a:t>A concise executive snapshot of population scale, age structure, urbanization, and key social signals. Figures are mostly for 2024 unless noted.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0F2571-AC5F-76F6-B71A-FA91A0D3258F}"/>
              </a:ext>
            </a:extLst>
          </p:cNvPr>
          <p:cNvCxnSpPr/>
          <p:nvPr/>
        </p:nvCxnSpPr>
        <p:spPr>
          <a:xfrm>
            <a:off x="812800" y="4978400"/>
            <a:ext cx="5029200" cy="0"/>
          </a:xfrm>
          <a:prstGeom prst="line">
            <a:avLst/>
          </a:prstGeom>
          <a:ln w="13970">
            <a:solidFill>
              <a:srgbClr val="D0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90C191-5FC6-1B9F-5F14-CB9C5FCDCB97}"/>
              </a:ext>
            </a:extLst>
          </p:cNvPr>
          <p:cNvSpPr txBox="1"/>
          <p:nvPr/>
        </p:nvSpPr>
        <p:spPr>
          <a:xfrm>
            <a:off x="762000" y="5130800"/>
            <a:ext cx="6350000" cy="33086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50">
                <a:solidFill>
                  <a:srgbClr val="66635C"/>
                </a:solidFill>
                <a:latin typeface="Aptos" panose="020B0004020202020204" pitchFamily="34" charset="0"/>
              </a:rPr>
              <a:t>Built on 19 May 2026 | For pilot discussion and refinement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F81277-5382-40AB-FC4D-95A66D98CC08}"/>
              </a:ext>
            </a:extLst>
          </p:cNvPr>
          <p:cNvSpPr txBox="1"/>
          <p:nvPr/>
        </p:nvSpPr>
        <p:spPr>
          <a:xfrm>
            <a:off x="8585200" y="1143000"/>
            <a:ext cx="22860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2600" b="1">
                <a:solidFill>
                  <a:srgbClr val="FFFBF5"/>
                </a:solidFill>
                <a:latin typeface="Aptos Display" panose="020B0004020202020204" pitchFamily="34" charset="0"/>
              </a:rPr>
              <a:t>Growing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7015DE-0F77-FBBD-5749-2122473770A4}"/>
              </a:ext>
            </a:extLst>
          </p:cNvPr>
          <p:cNvSpPr txBox="1"/>
          <p:nvPr/>
        </p:nvSpPr>
        <p:spPr>
          <a:xfrm>
            <a:off x="8585200" y="2603500"/>
            <a:ext cx="22860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2600" b="1">
                <a:solidFill>
                  <a:srgbClr val="FFFBF5"/>
                </a:solidFill>
                <a:latin typeface="Aptos Display" panose="020B0004020202020204" pitchFamily="34" charset="0"/>
              </a:rPr>
              <a:t>Aging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D6218D-7821-59CB-51AC-2813A95D3FFC}"/>
              </a:ext>
            </a:extLst>
          </p:cNvPr>
          <p:cNvSpPr txBox="1"/>
          <p:nvPr/>
        </p:nvSpPr>
        <p:spPr>
          <a:xfrm>
            <a:off x="8585200" y="4064000"/>
            <a:ext cx="22860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2600" b="1">
                <a:solidFill>
                  <a:srgbClr val="FFFBF5"/>
                </a:solidFill>
                <a:latin typeface="Aptos Display" panose="020B0004020202020204" pitchFamily="34" charset="0"/>
              </a:rPr>
              <a:t>Urbanizing</a:t>
            </a:r>
          </a:p>
        </p:txBody>
      </p:sp>
    </p:spTree>
    <p:extLst>
      <p:ext uri="{BB962C8B-B14F-4D97-AF65-F5344CB8AC3E}">
        <p14:creationId xmlns:p14="http://schemas.microsoft.com/office/powerpoint/2010/main" val="331152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B2FFCC-A2C1-161E-82F6-534DD93DF8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4AB45-DF94-6A4E-52F2-AF189D7DBD4F}"/>
              </a:ext>
            </a:extLst>
          </p:cNvPr>
          <p:cNvSpPr txBox="1"/>
          <p:nvPr/>
        </p:nvSpPr>
        <p:spPr>
          <a:xfrm>
            <a:off x="685800" y="355600"/>
            <a:ext cx="5080000" cy="53860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500" b="1">
                <a:solidFill>
                  <a:srgbClr val="22262E"/>
                </a:solidFill>
                <a:latin typeface="Aptos Display" panose="020B0004020202020204" pitchFamily="34" charset="0"/>
              </a:rPr>
              <a:t>2024 demographic snapshot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CC375-0647-FC63-4A1E-F45446383F13}"/>
              </a:ext>
            </a:extLst>
          </p:cNvPr>
          <p:cNvSpPr txBox="1"/>
          <p:nvPr/>
        </p:nvSpPr>
        <p:spPr>
          <a:xfrm>
            <a:off x="711200" y="838200"/>
            <a:ext cx="9017000" cy="5693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50">
                <a:solidFill>
                  <a:srgbClr val="66635C"/>
                </a:solidFill>
                <a:latin typeface="Aptos" panose="020B0004020202020204" pitchFamily="34" charset="0"/>
              </a:rPr>
              <a:t>Vietnam is now a very large population market with solid labor depth, but below-replacement fertility is becoming a central trend.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B5B32B-E980-771D-F322-8F70C3B9C169}"/>
              </a:ext>
            </a:extLst>
          </p:cNvPr>
          <p:cNvSpPr/>
          <p:nvPr/>
        </p:nvSpPr>
        <p:spPr>
          <a:xfrm>
            <a:off x="711200" y="1498600"/>
            <a:ext cx="2489200" cy="1752600"/>
          </a:xfrm>
          <a:prstGeom prst="roundRect">
            <a:avLst/>
          </a:prstGeom>
          <a:solidFill>
            <a:srgbClr val="F0DF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972BDB-0F5A-BF9D-634A-B0FDE0578AC1}"/>
              </a:ext>
            </a:extLst>
          </p:cNvPr>
          <p:cNvSpPr/>
          <p:nvPr/>
        </p:nvSpPr>
        <p:spPr>
          <a:xfrm>
            <a:off x="889000" y="1701800"/>
            <a:ext cx="127000" cy="1346200"/>
          </a:xfrm>
          <a:prstGeom prst="roundRect">
            <a:avLst/>
          </a:prstGeom>
          <a:solidFill>
            <a:srgbClr val="9B2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84FFD-AE65-61CC-571B-0DD986FCD84B}"/>
              </a:ext>
            </a:extLst>
          </p:cNvPr>
          <p:cNvSpPr txBox="1"/>
          <p:nvPr/>
        </p:nvSpPr>
        <p:spPr>
          <a:xfrm>
            <a:off x="1092200" y="1651000"/>
            <a:ext cx="19812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66635C"/>
                </a:solidFill>
                <a:latin typeface="Aptos" panose="020B0004020202020204" pitchFamily="34" charset="0"/>
              </a:rPr>
              <a:t>Population (average, 2024)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A15D9-5184-BE91-E280-8E5F2981CEA2}"/>
              </a:ext>
            </a:extLst>
          </p:cNvPr>
          <p:cNvSpPr txBox="1"/>
          <p:nvPr/>
        </p:nvSpPr>
        <p:spPr>
          <a:xfrm>
            <a:off x="1092200" y="1955800"/>
            <a:ext cx="19812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600" b="1">
                <a:solidFill>
                  <a:srgbClr val="22262E"/>
                </a:solidFill>
                <a:latin typeface="Aptos Display" panose="020B0004020202020204" pitchFamily="34" charset="0"/>
              </a:rPr>
              <a:t>101.3M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3D541-DA2A-F190-7A7A-21212D409793}"/>
              </a:ext>
            </a:extLst>
          </p:cNvPr>
          <p:cNvSpPr txBox="1"/>
          <p:nvPr/>
        </p:nvSpPr>
        <p:spPr>
          <a:xfrm>
            <a:off x="1092200" y="2565400"/>
            <a:ext cx="1981200" cy="4770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050">
                <a:solidFill>
                  <a:srgbClr val="66635C"/>
                </a:solidFill>
                <a:latin typeface="Aptos" panose="020B0004020202020204" pitchFamily="34" charset="0"/>
              </a:rPr>
              <a:t>NSO estimate; up 1.03% from 2023.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8F63B1-7ECD-EA3E-15EC-572F1D233492}"/>
              </a:ext>
            </a:extLst>
          </p:cNvPr>
          <p:cNvSpPr/>
          <p:nvPr/>
        </p:nvSpPr>
        <p:spPr>
          <a:xfrm>
            <a:off x="3429000" y="1498600"/>
            <a:ext cx="2489200" cy="1752600"/>
          </a:xfrm>
          <a:prstGeom prst="roundRect">
            <a:avLst/>
          </a:prstGeom>
          <a:solidFill>
            <a:srgbClr val="F2EA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EB9BAA-8748-902A-61F6-3157EAB3CE8C}"/>
              </a:ext>
            </a:extLst>
          </p:cNvPr>
          <p:cNvSpPr/>
          <p:nvPr/>
        </p:nvSpPr>
        <p:spPr>
          <a:xfrm>
            <a:off x="3606800" y="1701800"/>
            <a:ext cx="127000" cy="1346200"/>
          </a:xfrm>
          <a:prstGeom prst="roundRect">
            <a:avLst/>
          </a:prstGeom>
          <a:solidFill>
            <a:srgbClr val="D2A0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3871B-948E-2B19-BE2D-B87786FF7EDA}"/>
              </a:ext>
            </a:extLst>
          </p:cNvPr>
          <p:cNvSpPr txBox="1"/>
          <p:nvPr/>
        </p:nvSpPr>
        <p:spPr>
          <a:xfrm>
            <a:off x="3810000" y="1651000"/>
            <a:ext cx="19812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66635C"/>
                </a:solidFill>
                <a:latin typeface="Aptos" panose="020B0004020202020204" pitchFamily="34" charset="0"/>
              </a:rPr>
              <a:t>Labor force (age 15+, 2024)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737D6D-1ADD-FF09-FDD8-6C26644313A9}"/>
              </a:ext>
            </a:extLst>
          </p:cNvPr>
          <p:cNvSpPr txBox="1"/>
          <p:nvPr/>
        </p:nvSpPr>
        <p:spPr>
          <a:xfrm>
            <a:off x="3810000" y="1955800"/>
            <a:ext cx="19812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600" b="1">
                <a:solidFill>
                  <a:srgbClr val="22262E"/>
                </a:solidFill>
                <a:latin typeface="Aptos Display" panose="020B0004020202020204" pitchFamily="34" charset="0"/>
              </a:rPr>
              <a:t>53.0M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160D8-C873-D57C-ADA8-0560122AA9A4}"/>
              </a:ext>
            </a:extLst>
          </p:cNvPr>
          <p:cNvSpPr txBox="1"/>
          <p:nvPr/>
        </p:nvSpPr>
        <p:spPr>
          <a:xfrm>
            <a:off x="3810000" y="2565400"/>
            <a:ext cx="1981200" cy="4770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050">
                <a:solidFill>
                  <a:srgbClr val="66635C"/>
                </a:solidFill>
                <a:latin typeface="Aptos" panose="020B0004020202020204" pitchFamily="34" charset="0"/>
              </a:rPr>
              <a:t>Large workforce remains a key advantage.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F45BB9-4E17-BAFC-C00B-32E4CA8C7FB1}"/>
              </a:ext>
            </a:extLst>
          </p:cNvPr>
          <p:cNvSpPr/>
          <p:nvPr/>
        </p:nvSpPr>
        <p:spPr>
          <a:xfrm>
            <a:off x="6146800" y="1498600"/>
            <a:ext cx="2489200" cy="1752600"/>
          </a:xfrm>
          <a:prstGeom prst="roundRect">
            <a:avLst/>
          </a:prstGeom>
          <a:solidFill>
            <a:srgbClr val="E4EC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89718B-794D-94B1-F52C-CC55F4477ACA}"/>
              </a:ext>
            </a:extLst>
          </p:cNvPr>
          <p:cNvSpPr/>
          <p:nvPr/>
        </p:nvSpPr>
        <p:spPr>
          <a:xfrm>
            <a:off x="6324600" y="1701800"/>
            <a:ext cx="127000" cy="1346200"/>
          </a:xfrm>
          <a:prstGeom prst="roundRect">
            <a:avLst/>
          </a:prstGeom>
          <a:solidFill>
            <a:srgbClr val="4F67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F3D5B3-7957-65D9-E0C8-7AA456AC1A4A}"/>
              </a:ext>
            </a:extLst>
          </p:cNvPr>
          <p:cNvSpPr txBox="1"/>
          <p:nvPr/>
        </p:nvSpPr>
        <p:spPr>
          <a:xfrm>
            <a:off x="6527800" y="1651000"/>
            <a:ext cx="19812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66635C"/>
                </a:solidFill>
                <a:latin typeface="Aptos" panose="020B0004020202020204" pitchFamily="34" charset="0"/>
              </a:rPr>
              <a:t>Fertility rate (2024)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AA419-E872-20BC-9F5B-551BA2A1C45C}"/>
              </a:ext>
            </a:extLst>
          </p:cNvPr>
          <p:cNvSpPr txBox="1"/>
          <p:nvPr/>
        </p:nvSpPr>
        <p:spPr>
          <a:xfrm>
            <a:off x="6527800" y="1955800"/>
            <a:ext cx="19812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600" b="1">
                <a:solidFill>
                  <a:srgbClr val="22262E"/>
                </a:solidFill>
                <a:latin typeface="Aptos Display" panose="020B0004020202020204" pitchFamily="34" charset="0"/>
              </a:rPr>
              <a:t>1.91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4AABC-03B7-B816-483B-170EF19E1982}"/>
              </a:ext>
            </a:extLst>
          </p:cNvPr>
          <p:cNvSpPr txBox="1"/>
          <p:nvPr/>
        </p:nvSpPr>
        <p:spPr>
          <a:xfrm>
            <a:off x="6527800" y="2565400"/>
            <a:ext cx="1981200" cy="4770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050">
                <a:solidFill>
                  <a:srgbClr val="66635C"/>
                </a:solidFill>
                <a:latin typeface="Aptos" panose="020B0004020202020204" pitchFamily="34" charset="0"/>
              </a:rPr>
              <a:t>Children per woman; below replacement.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8F9E9A-44B3-F404-61DD-660C0C6A3227}"/>
              </a:ext>
            </a:extLst>
          </p:cNvPr>
          <p:cNvSpPr/>
          <p:nvPr/>
        </p:nvSpPr>
        <p:spPr>
          <a:xfrm>
            <a:off x="8864600" y="1498600"/>
            <a:ext cx="2489200" cy="1752600"/>
          </a:xfrm>
          <a:prstGeom prst="roundRect">
            <a:avLst/>
          </a:prstGeom>
          <a:solidFill>
            <a:srgbClr val="DDE9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D88376F-2DA0-3701-E646-2B297DC61751}"/>
              </a:ext>
            </a:extLst>
          </p:cNvPr>
          <p:cNvSpPr/>
          <p:nvPr/>
        </p:nvSpPr>
        <p:spPr>
          <a:xfrm>
            <a:off x="9042400" y="1701800"/>
            <a:ext cx="127000" cy="1346200"/>
          </a:xfrm>
          <a:prstGeom prst="roundRect">
            <a:avLst/>
          </a:prstGeom>
          <a:solidFill>
            <a:srgbClr val="326C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004F7-916D-7A73-F537-7ADDB50F2C2A}"/>
              </a:ext>
            </a:extLst>
          </p:cNvPr>
          <p:cNvSpPr txBox="1"/>
          <p:nvPr/>
        </p:nvSpPr>
        <p:spPr>
          <a:xfrm>
            <a:off x="9245600" y="1651000"/>
            <a:ext cx="19812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66635C"/>
                </a:solidFill>
                <a:latin typeface="Aptos" panose="020B0004020202020204" pitchFamily="34" charset="0"/>
              </a:rPr>
              <a:t>Life expectancy (2024)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C667E9-999D-8B59-0518-674B88FBAE23}"/>
              </a:ext>
            </a:extLst>
          </p:cNvPr>
          <p:cNvSpPr txBox="1"/>
          <p:nvPr/>
        </p:nvSpPr>
        <p:spPr>
          <a:xfrm>
            <a:off x="9245600" y="1955800"/>
            <a:ext cx="1981200" cy="5539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600" b="1">
                <a:solidFill>
                  <a:srgbClr val="22262E"/>
                </a:solidFill>
                <a:latin typeface="Aptos Display" panose="020B0004020202020204" pitchFamily="34" charset="0"/>
              </a:rPr>
              <a:t>74.7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3A9C2-290F-48FF-B2EE-2B63ACD528CC}"/>
              </a:ext>
            </a:extLst>
          </p:cNvPr>
          <p:cNvSpPr txBox="1"/>
          <p:nvPr/>
        </p:nvSpPr>
        <p:spPr>
          <a:xfrm>
            <a:off x="9245600" y="2565400"/>
            <a:ext cx="1981200" cy="4770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050">
                <a:solidFill>
                  <a:srgbClr val="66635C"/>
                </a:solidFill>
                <a:latin typeface="Aptos" panose="020B0004020202020204" pitchFamily="34" charset="0"/>
              </a:rPr>
              <a:t>Years; unchanged into 2025 in NSO release.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59E56E1-24D7-ADEA-3D47-E20BE8770F89}"/>
              </a:ext>
            </a:extLst>
          </p:cNvPr>
          <p:cNvSpPr/>
          <p:nvPr/>
        </p:nvSpPr>
        <p:spPr>
          <a:xfrm>
            <a:off x="711200" y="3733800"/>
            <a:ext cx="10642600" cy="2082800"/>
          </a:xfrm>
          <a:prstGeom prst="roundRect">
            <a:avLst/>
          </a:prstGeom>
          <a:solidFill>
            <a:srgbClr val="F6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5ABEDC-1927-D6C8-8268-D7B32C63EEBB}"/>
              </a:ext>
            </a:extLst>
          </p:cNvPr>
          <p:cNvSpPr txBox="1"/>
          <p:nvPr/>
        </p:nvSpPr>
        <p:spPr>
          <a:xfrm>
            <a:off x="965200" y="3962400"/>
            <a:ext cx="35306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b="1">
                <a:solidFill>
                  <a:srgbClr val="22262E"/>
                </a:solidFill>
                <a:latin typeface="Aptos Display" panose="020B0004020202020204" pitchFamily="34" charset="0"/>
              </a:rPr>
              <a:t>Why this matters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5C2B7B-3C71-9421-3D35-311AA7CDF218}"/>
              </a:ext>
            </a:extLst>
          </p:cNvPr>
          <p:cNvSpPr txBox="1"/>
          <p:nvPr/>
        </p:nvSpPr>
        <p:spPr>
          <a:xfrm>
            <a:off x="965200" y="4368800"/>
            <a:ext cx="100330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22262E"/>
                </a:solidFill>
                <a:latin typeface="Aptos" panose="020B0004020202020204" pitchFamily="34" charset="0"/>
              </a:rPr>
              <a:t>Vietnam has already crossed the 100 million threshold, which supports market scale, manufacturing depth, and a broad domestic consumer base. The strategic shift is no longer about whether the country is young, but how quickly it is moving from a demographic dividend phase toward an aging society.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C224E4-1545-7513-53F2-E92A1BD7B547}"/>
              </a:ext>
            </a:extLst>
          </p:cNvPr>
          <p:cNvSpPr txBox="1"/>
          <p:nvPr/>
        </p:nvSpPr>
        <p:spPr>
          <a:xfrm>
            <a:off x="965200" y="5664200"/>
            <a:ext cx="1016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050">
                <a:solidFill>
                  <a:srgbClr val="66635C"/>
                </a:solidFill>
                <a:latin typeface="Aptos" panose="020B0004020202020204" pitchFamily="34" charset="0"/>
              </a:rPr>
              <a:t>Sources: National Statistics Office of Vietnam releases on 2024 socio-economic conditions and 2024 intercensal population findings.</a:t>
            </a:r>
          </a:p>
        </p:txBody>
      </p:sp>
    </p:spTree>
    <p:extLst>
      <p:ext uri="{BB962C8B-B14F-4D97-AF65-F5344CB8AC3E}">
        <p14:creationId xmlns:p14="http://schemas.microsoft.com/office/powerpoint/2010/main" val="284669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36B3EB-98B6-CD74-39F4-5BD86E5506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6FC26-E601-CA23-A4BF-3DAE91DA1388}"/>
              </a:ext>
            </a:extLst>
          </p:cNvPr>
          <p:cNvSpPr txBox="1"/>
          <p:nvPr/>
        </p:nvSpPr>
        <p:spPr>
          <a:xfrm>
            <a:off x="685800" y="355600"/>
            <a:ext cx="5461000" cy="92333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500" b="1">
                <a:solidFill>
                  <a:srgbClr val="22262E"/>
                </a:solidFill>
                <a:latin typeface="Aptos Display" panose="020B0004020202020204" pitchFamily="34" charset="0"/>
              </a:rPr>
              <a:t>Age structure is still favorable, but aging is accelerating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3B6F19-9D43-6313-0303-215E198CE1E7}"/>
              </a:ext>
            </a:extLst>
          </p:cNvPr>
          <p:cNvSpPr/>
          <p:nvPr/>
        </p:nvSpPr>
        <p:spPr>
          <a:xfrm>
            <a:off x="889000" y="1930400"/>
            <a:ext cx="1651000" cy="533400"/>
          </a:xfrm>
          <a:prstGeom prst="roundRect">
            <a:avLst/>
          </a:prstGeom>
          <a:solidFill>
            <a:srgbClr val="D2A0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80154-948A-E7D3-A7A4-3627E028E9BC}"/>
              </a:ext>
            </a:extLst>
          </p:cNvPr>
          <p:cNvSpPr/>
          <p:nvPr/>
        </p:nvSpPr>
        <p:spPr>
          <a:xfrm>
            <a:off x="2540000" y="1930400"/>
            <a:ext cx="4813300" cy="533400"/>
          </a:xfrm>
          <a:prstGeom prst="rect">
            <a:avLst/>
          </a:prstGeom>
          <a:solidFill>
            <a:srgbClr val="4F67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E759EE-D89B-8C7F-32E5-C002D18E222A}"/>
              </a:ext>
            </a:extLst>
          </p:cNvPr>
          <p:cNvSpPr/>
          <p:nvPr/>
        </p:nvSpPr>
        <p:spPr>
          <a:xfrm>
            <a:off x="7353300" y="1930400"/>
            <a:ext cx="647700" cy="533400"/>
          </a:xfrm>
          <a:prstGeom prst="roundRect">
            <a:avLst/>
          </a:prstGeom>
          <a:solidFill>
            <a:srgbClr val="9B2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B66FF-93B5-C9C6-66ED-C42C7C15859C}"/>
              </a:ext>
            </a:extLst>
          </p:cNvPr>
          <p:cNvSpPr txBox="1"/>
          <p:nvPr/>
        </p:nvSpPr>
        <p:spPr>
          <a:xfrm>
            <a:off x="889000" y="1371600"/>
            <a:ext cx="73660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66635C"/>
                </a:solidFill>
                <a:latin typeface="Aptos" panose="020B0004020202020204" pitchFamily="34" charset="0"/>
              </a:rPr>
              <a:t>Share of total population by age group, 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78FFE5-4648-3F2D-7733-2E2DABC42351}"/>
              </a:ext>
            </a:extLst>
          </p:cNvPr>
          <p:cNvSpPr txBox="1"/>
          <p:nvPr/>
        </p:nvSpPr>
        <p:spPr>
          <a:xfrm>
            <a:off x="889000" y="2565400"/>
            <a:ext cx="1841500" cy="6463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600" b="1">
                <a:solidFill>
                  <a:srgbClr val="22262E"/>
                </a:solidFill>
                <a:latin typeface="Aptos Display" panose="020B0004020202020204" pitchFamily="34" charset="0"/>
              </a:rPr>
              <a:t>0-14 years
23.2%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C8FC4-EB5F-2541-9974-EC2086807C54}"/>
              </a:ext>
            </a:extLst>
          </p:cNvPr>
          <p:cNvSpPr txBox="1"/>
          <p:nvPr/>
        </p:nvSpPr>
        <p:spPr>
          <a:xfrm>
            <a:off x="3683000" y="2565400"/>
            <a:ext cx="2032000" cy="6463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en-US" sz="1600" b="1">
                <a:solidFill>
                  <a:srgbClr val="22262E"/>
                </a:solidFill>
                <a:latin typeface="Aptos Display" panose="020B0004020202020204" pitchFamily="34" charset="0"/>
              </a:rPr>
              <a:t>15-64 years
67.7%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9E9C3-2509-695D-0D98-34EEB996FF53}"/>
              </a:ext>
            </a:extLst>
          </p:cNvPr>
          <p:cNvSpPr txBox="1"/>
          <p:nvPr/>
        </p:nvSpPr>
        <p:spPr>
          <a:xfrm>
            <a:off x="6375400" y="2565400"/>
            <a:ext cx="1778000" cy="6463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r"/>
            <a:r>
              <a:rPr lang="en-US" sz="1600" b="1">
                <a:solidFill>
                  <a:srgbClr val="22262E"/>
                </a:solidFill>
                <a:latin typeface="Aptos Display" panose="020B0004020202020204" pitchFamily="34" charset="0"/>
              </a:rPr>
              <a:t>65+ years
9.1%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F38F1F-7100-12C7-EAF2-D60FF9222CD4}"/>
              </a:ext>
            </a:extLst>
          </p:cNvPr>
          <p:cNvSpPr/>
          <p:nvPr/>
        </p:nvSpPr>
        <p:spPr>
          <a:xfrm>
            <a:off x="8559800" y="1346200"/>
            <a:ext cx="2794000" cy="1524000"/>
          </a:xfrm>
          <a:prstGeom prst="roundRect">
            <a:avLst/>
          </a:prstGeom>
          <a:solidFill>
            <a:srgbClr val="FFFB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1B0AA-DABF-4FA8-FCFF-402B540E5B75}"/>
              </a:ext>
            </a:extLst>
          </p:cNvPr>
          <p:cNvSpPr txBox="1"/>
          <p:nvPr/>
        </p:nvSpPr>
        <p:spPr>
          <a:xfrm>
            <a:off x="8763000" y="1549400"/>
            <a:ext cx="2413000" cy="3539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300">
                <a:solidFill>
                  <a:srgbClr val="66635C"/>
                </a:solidFill>
                <a:latin typeface="Aptos" panose="020B0004020202020204" pitchFamily="34" charset="0"/>
              </a:rPr>
              <a:t>Dependency ratio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DBD52-A45F-A9AD-F553-4061E3ECDBA7}"/>
              </a:ext>
            </a:extLst>
          </p:cNvPr>
          <p:cNvSpPr txBox="1"/>
          <p:nvPr/>
        </p:nvSpPr>
        <p:spPr>
          <a:xfrm>
            <a:off x="8712200" y="1879600"/>
            <a:ext cx="2489200" cy="5847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9B2226"/>
                </a:solidFill>
                <a:latin typeface="Aptos Display" panose="020B0004020202020204" pitchFamily="34" charset="0"/>
              </a:rPr>
              <a:t>47.7%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D0FCD5-FAA2-0C04-0DEE-F15ED557207C}"/>
              </a:ext>
            </a:extLst>
          </p:cNvPr>
          <p:cNvSpPr txBox="1"/>
          <p:nvPr/>
        </p:nvSpPr>
        <p:spPr>
          <a:xfrm>
            <a:off x="8763000" y="2387600"/>
            <a:ext cx="2387600" cy="4924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00">
                <a:solidFill>
                  <a:srgbClr val="66635C"/>
                </a:solidFill>
                <a:latin typeface="Aptos" panose="020B0004020202020204" pitchFamily="34" charset="0"/>
              </a:rPr>
              <a:t>Dependents per 100 working-age people.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4BABC9-5618-F832-EA4C-36D30D9D5064}"/>
              </a:ext>
            </a:extLst>
          </p:cNvPr>
          <p:cNvSpPr/>
          <p:nvPr/>
        </p:nvSpPr>
        <p:spPr>
          <a:xfrm>
            <a:off x="711200" y="3606800"/>
            <a:ext cx="10642600" cy="2311400"/>
          </a:xfrm>
          <a:prstGeom prst="roundRect">
            <a:avLst/>
          </a:prstGeom>
          <a:solidFill>
            <a:srgbClr val="FFFB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16805B-D40E-EB28-F3FC-90C9226D3826}"/>
              </a:ext>
            </a:extLst>
          </p:cNvPr>
          <p:cNvSpPr txBox="1"/>
          <p:nvPr/>
        </p:nvSpPr>
        <p:spPr>
          <a:xfrm>
            <a:off x="965200" y="3860800"/>
            <a:ext cx="9906000" cy="113877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22262E"/>
                </a:solidFill>
                <a:latin typeface="Aptos" panose="020B0004020202020204" pitchFamily="34" charset="0"/>
              </a:rPr>
              <a:t>Vietnam still has a majority working-age population, which supports growth and labor supply. At the same time, the elderly share is climbing fast enough that population aging is now a near-term planning issue rather than a distant one. The working-age share shown here is inferred from age-band data: 100% minus 0-14 and 65+ shares.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CB0CE3-D920-305C-E811-A4B06023D9AA}"/>
              </a:ext>
            </a:extLst>
          </p:cNvPr>
          <p:cNvSpPr txBox="1"/>
          <p:nvPr/>
        </p:nvSpPr>
        <p:spPr>
          <a:xfrm>
            <a:off x="965200" y="5511800"/>
            <a:ext cx="10033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050">
                <a:solidFill>
                  <a:srgbClr val="66635C"/>
                </a:solidFill>
                <a:latin typeface="Aptos" panose="020B0004020202020204" pitchFamily="34" charset="0"/>
              </a:rPr>
              <a:t>Sources: World Bank / UN Population Division age-band series for 2024; interpretation aligned with NSO population projection commentary.</a:t>
            </a:r>
          </a:p>
        </p:txBody>
      </p:sp>
    </p:spTree>
    <p:extLst>
      <p:ext uri="{BB962C8B-B14F-4D97-AF65-F5344CB8AC3E}">
        <p14:creationId xmlns:p14="http://schemas.microsoft.com/office/powerpoint/2010/main" val="160236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D8D87E-7FEB-474F-63F2-EE6538AF05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450A2-3416-E1AD-F0F1-62CDDD121BED}"/>
              </a:ext>
            </a:extLst>
          </p:cNvPr>
          <p:cNvSpPr txBox="1"/>
          <p:nvPr/>
        </p:nvSpPr>
        <p:spPr>
          <a:xfrm>
            <a:off x="685800" y="355600"/>
            <a:ext cx="4572000" cy="92333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500" b="1">
                <a:solidFill>
                  <a:srgbClr val="22262E"/>
                </a:solidFill>
                <a:latin typeface="Aptos Display" panose="020B0004020202020204" pitchFamily="34" charset="0"/>
              </a:rPr>
              <a:t>Urbanization is steady, not yet dominant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E745D7-07A5-8FC3-4D59-45F26FA9EFB0}"/>
              </a:ext>
            </a:extLst>
          </p:cNvPr>
          <p:cNvSpPr/>
          <p:nvPr/>
        </p:nvSpPr>
        <p:spPr>
          <a:xfrm>
            <a:off x="711200" y="1219200"/>
            <a:ext cx="5105400" cy="4165600"/>
          </a:xfrm>
          <a:prstGeom prst="roundRect">
            <a:avLst/>
          </a:prstGeom>
          <a:solidFill>
            <a:srgbClr val="DDE9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A348A-BC31-84F1-8B0B-95CDBC4B97DE}"/>
              </a:ext>
            </a:extLst>
          </p:cNvPr>
          <p:cNvSpPr txBox="1"/>
          <p:nvPr/>
        </p:nvSpPr>
        <p:spPr>
          <a:xfrm>
            <a:off x="939800" y="1498600"/>
            <a:ext cx="4445000" cy="3693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00">
                <a:solidFill>
                  <a:srgbClr val="66635C"/>
                </a:solidFill>
                <a:latin typeface="Aptos" panose="020B0004020202020204" pitchFamily="34" charset="0"/>
              </a:rPr>
              <a:t>Urban share of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24A3B5-F601-CFC3-A3A3-BD0E2952092B}"/>
              </a:ext>
            </a:extLst>
          </p:cNvPr>
          <p:cNvSpPr txBox="1"/>
          <p:nvPr/>
        </p:nvSpPr>
        <p:spPr>
          <a:xfrm>
            <a:off x="914400" y="1879600"/>
            <a:ext cx="4216400" cy="67710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3400" b="1">
                <a:solidFill>
                  <a:srgbClr val="326C70"/>
                </a:solidFill>
                <a:latin typeface="Aptos Display" panose="020B0004020202020204" pitchFamily="34" charset="0"/>
              </a:rPr>
              <a:t>About 4 in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80492-23DA-6716-8786-782AEE6DC48B}"/>
              </a:ext>
            </a:extLst>
          </p:cNvPr>
          <p:cNvSpPr txBox="1"/>
          <p:nvPr/>
        </p:nvSpPr>
        <p:spPr>
          <a:xfrm>
            <a:off x="939800" y="2895600"/>
            <a:ext cx="4368800" cy="107721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500">
                <a:solidFill>
                  <a:srgbClr val="22262E"/>
                </a:solidFill>
                <a:latin typeface="Aptos" panose="020B0004020202020204" pitchFamily="34" charset="0"/>
              </a:rPr>
              <a:t>A common global series places Vietnam's 2024 urban share at about 38.5%, while some NSO-based compilations show roughly 40.2%, depending on classification and update method.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12804-E0E5-A6A5-7A9F-B29B91E6B08B}"/>
              </a:ext>
            </a:extLst>
          </p:cNvPr>
          <p:cNvSpPr txBox="1"/>
          <p:nvPr/>
        </p:nvSpPr>
        <p:spPr>
          <a:xfrm>
            <a:off x="939800" y="4267200"/>
            <a:ext cx="4292600" cy="6155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500">
                <a:solidFill>
                  <a:srgbClr val="22262E"/>
                </a:solidFill>
                <a:latin typeface="Aptos" panose="020B0004020202020204" pitchFamily="34" charset="0"/>
              </a:rPr>
              <a:t>Bottom line: Vietnam is urbanizing quickly, but rural Vietnam still remains the majority setting.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A3A543-94F8-AC04-C58C-5BEAEE551EAF}"/>
              </a:ext>
            </a:extLst>
          </p:cNvPr>
          <p:cNvSpPr/>
          <p:nvPr/>
        </p:nvSpPr>
        <p:spPr>
          <a:xfrm>
            <a:off x="6248400" y="1219200"/>
            <a:ext cx="5105400" cy="4165600"/>
          </a:xfrm>
          <a:prstGeom prst="roundRect">
            <a:avLst/>
          </a:prstGeom>
          <a:solidFill>
            <a:srgbClr val="F6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B92B3A-6CB6-D076-1339-D3AA5E5FBC37}"/>
              </a:ext>
            </a:extLst>
          </p:cNvPr>
          <p:cNvSpPr txBox="1"/>
          <p:nvPr/>
        </p:nvSpPr>
        <p:spPr>
          <a:xfrm>
            <a:off x="6502400" y="1498600"/>
            <a:ext cx="2667000" cy="3693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00">
                <a:solidFill>
                  <a:srgbClr val="66635C"/>
                </a:solidFill>
                <a:latin typeface="Aptos" panose="020B0004020202020204" pitchFamily="34" charset="0"/>
              </a:rPr>
              <a:t>Labor market scale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28ED5-0FDF-F335-5FE0-28FE93E52E2B}"/>
              </a:ext>
            </a:extLst>
          </p:cNvPr>
          <p:cNvSpPr txBox="1"/>
          <p:nvPr/>
        </p:nvSpPr>
        <p:spPr>
          <a:xfrm>
            <a:off x="6477000" y="1955800"/>
            <a:ext cx="2286000" cy="101566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800" b="1">
                <a:solidFill>
                  <a:srgbClr val="9B2226"/>
                </a:solidFill>
                <a:latin typeface="Aptos Display" panose="020B0004020202020204" pitchFamily="34" charset="0"/>
              </a:rPr>
              <a:t>51.9M employed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C3720-BA4B-F6CD-6BC4-207638246355}"/>
              </a:ext>
            </a:extLst>
          </p:cNvPr>
          <p:cNvSpPr txBox="1"/>
          <p:nvPr/>
        </p:nvSpPr>
        <p:spPr>
          <a:xfrm>
            <a:off x="6502400" y="2514600"/>
            <a:ext cx="4241800" cy="107721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500">
                <a:solidFill>
                  <a:srgbClr val="22262E"/>
                </a:solidFill>
                <a:latin typeface="Aptos" panose="020B0004020202020204" pitchFamily="34" charset="0"/>
              </a:rPr>
              <a:t>The 2024 labor force aged 15 and over was nearly 53.0 million, with 51.9 million employed workers. This remains one of Vietnam's strongest demographic advantages.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0EDA7C-3364-46AB-85F6-31AC1DAC08F8}"/>
              </a:ext>
            </a:extLst>
          </p:cNvPr>
          <p:cNvSpPr/>
          <p:nvPr/>
        </p:nvSpPr>
        <p:spPr>
          <a:xfrm>
            <a:off x="6502400" y="3632200"/>
            <a:ext cx="1955800" cy="1143000"/>
          </a:xfrm>
          <a:prstGeom prst="roundRect">
            <a:avLst/>
          </a:prstGeom>
          <a:solidFill>
            <a:srgbClr val="F0DF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BEE175-80A8-9BEE-8E53-AE406837CD5E}"/>
              </a:ext>
            </a:extLst>
          </p:cNvPr>
          <p:cNvSpPr/>
          <p:nvPr/>
        </p:nvSpPr>
        <p:spPr>
          <a:xfrm>
            <a:off x="8661400" y="3632200"/>
            <a:ext cx="1955800" cy="1143000"/>
          </a:xfrm>
          <a:prstGeom prst="roundRect">
            <a:avLst/>
          </a:prstGeom>
          <a:solidFill>
            <a:srgbClr val="F2EA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A0DBCD-3F93-59FB-B18B-923ED7F11FFC}"/>
              </a:ext>
            </a:extLst>
          </p:cNvPr>
          <p:cNvSpPr txBox="1"/>
          <p:nvPr/>
        </p:nvSpPr>
        <p:spPr>
          <a:xfrm>
            <a:off x="6629400" y="3810000"/>
            <a:ext cx="16764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>
                <a:solidFill>
                  <a:srgbClr val="66635C"/>
                </a:solidFill>
                <a:latin typeface="Aptos" panose="020B0004020202020204" pitchFamily="34" charset="0"/>
              </a:rPr>
              <a:t>Urban jobs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31C9BD-3B99-6FB6-167D-B9F8542A8123}"/>
              </a:ext>
            </a:extLst>
          </p:cNvPr>
          <p:cNvSpPr txBox="1"/>
          <p:nvPr/>
        </p:nvSpPr>
        <p:spPr>
          <a:xfrm>
            <a:off x="6629400" y="4114800"/>
            <a:ext cx="1676400" cy="40011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600" b="1">
                <a:solidFill>
                  <a:srgbClr val="22262E"/>
                </a:solidFill>
                <a:latin typeface="Aptos Display" panose="020B0004020202020204" pitchFamily="34" charset="0"/>
              </a:rPr>
              <a:t>Unemployment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45E2FE-31B7-1F03-E771-BB05F217E4AE}"/>
              </a:ext>
            </a:extLst>
          </p:cNvPr>
          <p:cNvSpPr txBox="1"/>
          <p:nvPr/>
        </p:nvSpPr>
        <p:spPr>
          <a:xfrm>
            <a:off x="6629400" y="4419600"/>
            <a:ext cx="1676400" cy="33086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50">
                <a:solidFill>
                  <a:srgbClr val="22262E"/>
                </a:solidFill>
                <a:latin typeface="Aptos" panose="020B0004020202020204" pitchFamily="34" charset="0"/>
              </a:rPr>
              <a:t>2.53% in 2024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4A743-3A5C-61C9-F38E-1B644FD803CB}"/>
              </a:ext>
            </a:extLst>
          </p:cNvPr>
          <p:cNvSpPr txBox="1"/>
          <p:nvPr/>
        </p:nvSpPr>
        <p:spPr>
          <a:xfrm>
            <a:off x="8788400" y="3810000"/>
            <a:ext cx="16764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>
                <a:solidFill>
                  <a:srgbClr val="66635C"/>
                </a:solidFill>
                <a:latin typeface="Aptos" panose="020B0004020202020204" pitchFamily="34" charset="0"/>
              </a:rPr>
              <a:t>Rural jobs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FCDB63-7655-0176-96BC-9D172168D74D}"/>
              </a:ext>
            </a:extLst>
          </p:cNvPr>
          <p:cNvSpPr txBox="1"/>
          <p:nvPr/>
        </p:nvSpPr>
        <p:spPr>
          <a:xfrm>
            <a:off x="8788400" y="4114800"/>
            <a:ext cx="1676400" cy="40011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600" b="1">
                <a:solidFill>
                  <a:srgbClr val="22262E"/>
                </a:solidFill>
                <a:latin typeface="Aptos Display" panose="020B0004020202020204" pitchFamily="34" charset="0"/>
              </a:rPr>
              <a:t>Unemployment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744FC8-0152-F161-06E2-58FE531473F3}"/>
              </a:ext>
            </a:extLst>
          </p:cNvPr>
          <p:cNvSpPr txBox="1"/>
          <p:nvPr/>
        </p:nvSpPr>
        <p:spPr>
          <a:xfrm>
            <a:off x="8788400" y="4419600"/>
            <a:ext cx="1676400" cy="33086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150">
                <a:solidFill>
                  <a:srgbClr val="22262E"/>
                </a:solidFill>
                <a:latin typeface="Aptos" panose="020B0004020202020204" pitchFamily="34" charset="0"/>
              </a:rPr>
              <a:t>2.05% in 2024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E51A63-8910-FBCD-AF53-D581D975B290}"/>
              </a:ext>
            </a:extLst>
          </p:cNvPr>
          <p:cNvSpPr txBox="1"/>
          <p:nvPr/>
        </p:nvSpPr>
        <p:spPr>
          <a:xfrm>
            <a:off x="914400" y="5740400"/>
            <a:ext cx="10160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050">
                <a:solidFill>
                  <a:srgbClr val="66635C"/>
                </a:solidFill>
                <a:latin typeface="Aptos" panose="020B0004020202020204" pitchFamily="34" charset="0"/>
              </a:rPr>
              <a:t>Sources: NSO 2024 labor release; World Bank urban population series and NSO-based secondary compilations for the urban share.</a:t>
            </a:r>
          </a:p>
        </p:txBody>
      </p:sp>
    </p:spTree>
    <p:extLst>
      <p:ext uri="{BB962C8B-B14F-4D97-AF65-F5344CB8AC3E}">
        <p14:creationId xmlns:p14="http://schemas.microsoft.com/office/powerpoint/2010/main" val="52307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C3677A-D4BF-5C21-B642-109447D94B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6DE22-D501-BA85-805A-8188836B2037}"/>
              </a:ext>
            </a:extLst>
          </p:cNvPr>
          <p:cNvSpPr txBox="1"/>
          <p:nvPr/>
        </p:nvSpPr>
        <p:spPr>
          <a:xfrm>
            <a:off x="685800" y="355600"/>
            <a:ext cx="5080000" cy="92333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500" b="1">
                <a:solidFill>
                  <a:srgbClr val="22262E"/>
                </a:solidFill>
                <a:latin typeface="Aptos Display" panose="020B0004020202020204" pitchFamily="34" charset="0"/>
              </a:rPr>
              <a:t>Composition: diversity matters alongside scale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D31827-D42B-8E80-EC9A-08FFDEF51B84}"/>
              </a:ext>
            </a:extLst>
          </p:cNvPr>
          <p:cNvSpPr/>
          <p:nvPr/>
        </p:nvSpPr>
        <p:spPr>
          <a:xfrm>
            <a:off x="711200" y="1219200"/>
            <a:ext cx="4953000" cy="4394200"/>
          </a:xfrm>
          <a:prstGeom prst="roundRect">
            <a:avLst/>
          </a:prstGeom>
          <a:solidFill>
            <a:srgbClr val="FFFB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28D53-E5D4-0B81-F833-2EA98E3223CC}"/>
              </a:ext>
            </a:extLst>
          </p:cNvPr>
          <p:cNvSpPr txBox="1"/>
          <p:nvPr/>
        </p:nvSpPr>
        <p:spPr>
          <a:xfrm>
            <a:off x="965200" y="1473200"/>
            <a:ext cx="4318000" cy="3693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00">
                <a:solidFill>
                  <a:srgbClr val="66635C"/>
                </a:solidFill>
                <a:latin typeface="Aptos" panose="020B0004020202020204" pitchFamily="34" charset="0"/>
              </a:rPr>
              <a:t>Ethnic composition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1A4536-8A92-ECA7-DC33-A7BADD8BD766}"/>
              </a:ext>
            </a:extLst>
          </p:cNvPr>
          <p:cNvSpPr/>
          <p:nvPr/>
        </p:nvSpPr>
        <p:spPr>
          <a:xfrm>
            <a:off x="990600" y="2082800"/>
            <a:ext cx="3238500" cy="330200"/>
          </a:xfrm>
          <a:prstGeom prst="roundRect">
            <a:avLst/>
          </a:prstGeom>
          <a:solidFill>
            <a:srgbClr val="9B2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579C6C-4DC5-CCF0-10D9-72EEBCBEE4D7}"/>
              </a:ext>
            </a:extLst>
          </p:cNvPr>
          <p:cNvSpPr/>
          <p:nvPr/>
        </p:nvSpPr>
        <p:spPr>
          <a:xfrm>
            <a:off x="4229100" y="2082800"/>
            <a:ext cx="571500" cy="330200"/>
          </a:xfrm>
          <a:prstGeom prst="roundRect">
            <a:avLst/>
          </a:prstGeom>
          <a:solidFill>
            <a:srgbClr val="D2A0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F0D3E-9152-E1F0-E0AD-4BB9F2B7A134}"/>
              </a:ext>
            </a:extLst>
          </p:cNvPr>
          <p:cNvSpPr txBox="1"/>
          <p:nvPr/>
        </p:nvSpPr>
        <p:spPr>
          <a:xfrm>
            <a:off x="965200" y="2514600"/>
            <a:ext cx="2159000" cy="4308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b="1">
                <a:solidFill>
                  <a:srgbClr val="22262E"/>
                </a:solidFill>
                <a:latin typeface="Aptos Display" panose="020B0004020202020204" pitchFamily="34" charset="0"/>
              </a:rPr>
              <a:t>Kinh: 85.3%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B9757-139A-E7C2-7D98-604DE1BE3D6C}"/>
              </a:ext>
            </a:extLst>
          </p:cNvPr>
          <p:cNvSpPr txBox="1"/>
          <p:nvPr/>
        </p:nvSpPr>
        <p:spPr>
          <a:xfrm>
            <a:off x="3149600" y="2514600"/>
            <a:ext cx="2159000" cy="70788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b="1">
                <a:solidFill>
                  <a:srgbClr val="22262E"/>
                </a:solidFill>
                <a:latin typeface="Aptos Display" panose="020B0004020202020204" pitchFamily="34" charset="0"/>
              </a:rPr>
              <a:t>Other ethnic groups: 14.7%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1F274-0975-318B-9D8C-A1E36E32FEDB}"/>
              </a:ext>
            </a:extLst>
          </p:cNvPr>
          <p:cNvSpPr txBox="1"/>
          <p:nvPr/>
        </p:nvSpPr>
        <p:spPr>
          <a:xfrm>
            <a:off x="965200" y="3073400"/>
            <a:ext cx="4064000" cy="130805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500">
                <a:solidFill>
                  <a:srgbClr val="22262E"/>
                </a:solidFill>
                <a:latin typeface="Aptos" panose="020B0004020202020204" pitchFamily="34" charset="0"/>
              </a:rPr>
              <a:t>The 2019 census remains the best official baseline for ethnicity. Ethnic minority communities are disproportionately concentrated in the Northern Midlands and Mountain areas and the Central Highlands.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80C5E-E64C-07CC-2C04-32F06DAA96A1}"/>
              </a:ext>
            </a:extLst>
          </p:cNvPr>
          <p:cNvSpPr txBox="1"/>
          <p:nvPr/>
        </p:nvSpPr>
        <p:spPr>
          <a:xfrm>
            <a:off x="965200" y="4445000"/>
            <a:ext cx="4064000" cy="3693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00">
                <a:solidFill>
                  <a:srgbClr val="66635C"/>
                </a:solidFill>
                <a:latin typeface="Aptos" panose="020B0004020202020204" pitchFamily="34" charset="0"/>
              </a:rPr>
              <a:t>Largest minority group in 2019: Tay (1.85 million).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BECC7B-7250-3114-F7C3-640DA58BC787}"/>
              </a:ext>
            </a:extLst>
          </p:cNvPr>
          <p:cNvSpPr/>
          <p:nvPr/>
        </p:nvSpPr>
        <p:spPr>
          <a:xfrm>
            <a:off x="6248400" y="1219200"/>
            <a:ext cx="5105400" cy="4394200"/>
          </a:xfrm>
          <a:prstGeom prst="roundRect">
            <a:avLst/>
          </a:prstGeom>
          <a:solidFill>
            <a:srgbClr val="E4EC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C766CB-A2F0-26BE-258E-4A086BCC8598}"/>
              </a:ext>
            </a:extLst>
          </p:cNvPr>
          <p:cNvSpPr txBox="1"/>
          <p:nvPr/>
        </p:nvSpPr>
        <p:spPr>
          <a:xfrm>
            <a:off x="6502400" y="1473200"/>
            <a:ext cx="3175000" cy="3693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00">
                <a:solidFill>
                  <a:srgbClr val="66635C"/>
                </a:solidFill>
                <a:latin typeface="Aptos" panose="020B0004020202020204" pitchFamily="34" charset="0"/>
              </a:rPr>
              <a:t>Two social signals to watch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59A97-EF72-E416-8DBB-1D84EA023662}"/>
              </a:ext>
            </a:extLst>
          </p:cNvPr>
          <p:cNvSpPr txBox="1"/>
          <p:nvPr/>
        </p:nvSpPr>
        <p:spPr>
          <a:xfrm>
            <a:off x="6477000" y="1955800"/>
            <a:ext cx="4064000" cy="52322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400" b="1">
                <a:solidFill>
                  <a:srgbClr val="4F674D"/>
                </a:solidFill>
                <a:latin typeface="Aptos Display" panose="020B0004020202020204" pitchFamily="34" charset="0"/>
              </a:rPr>
              <a:t>Sex ratio at birth: 111.4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34E99F-B8CB-320A-7441-6524AACEB207}"/>
              </a:ext>
            </a:extLst>
          </p:cNvPr>
          <p:cNvSpPr txBox="1"/>
          <p:nvPr/>
        </p:nvSpPr>
        <p:spPr>
          <a:xfrm>
            <a:off x="6502400" y="2514600"/>
            <a:ext cx="4064000" cy="60016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22262E"/>
                </a:solidFill>
                <a:latin typeface="Aptos" panose="020B0004020202020204" pitchFamily="34" charset="0"/>
              </a:rPr>
              <a:t>Boys per 100 girls in 2024, still materially above the biological norm.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4384B4-CA64-A2CC-9636-0C8B4A41B040}"/>
              </a:ext>
            </a:extLst>
          </p:cNvPr>
          <p:cNvCxnSpPr/>
          <p:nvPr/>
        </p:nvCxnSpPr>
        <p:spPr>
          <a:xfrm>
            <a:off x="6527800" y="3276600"/>
            <a:ext cx="4165600" cy="0"/>
          </a:xfrm>
          <a:prstGeom prst="line">
            <a:avLst/>
          </a:prstGeom>
          <a:ln w="13970">
            <a:solidFill>
              <a:srgbClr val="D0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484527-F331-4870-13F8-3AF2233D399E}"/>
              </a:ext>
            </a:extLst>
          </p:cNvPr>
          <p:cNvSpPr txBox="1"/>
          <p:nvPr/>
        </p:nvSpPr>
        <p:spPr>
          <a:xfrm>
            <a:off x="6477000" y="3479800"/>
            <a:ext cx="4191000" cy="89255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400" b="1">
                <a:solidFill>
                  <a:srgbClr val="9B2226"/>
                </a:solidFill>
                <a:latin typeface="Aptos Display" panose="020B0004020202020204" pitchFamily="34" charset="0"/>
              </a:rPr>
              <a:t>Fertility pressure is now national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98E3E-0B47-6BAF-3246-BE752C8BA996}"/>
              </a:ext>
            </a:extLst>
          </p:cNvPr>
          <p:cNvSpPr txBox="1"/>
          <p:nvPr/>
        </p:nvSpPr>
        <p:spPr>
          <a:xfrm>
            <a:off x="6502400" y="4089400"/>
            <a:ext cx="4241800" cy="104644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450">
                <a:solidFill>
                  <a:srgbClr val="22262E"/>
                </a:solidFill>
                <a:latin typeface="Aptos" panose="020B0004020202020204" pitchFamily="34" charset="0"/>
              </a:rPr>
              <a:t>A 1.91 total fertility rate means the challenge is no longer concentrated only in richer East Asian peers. Vietnam is now moving into the same policy conversation.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00B6E2-AD94-54B4-849D-B7E02F445083}"/>
              </a:ext>
            </a:extLst>
          </p:cNvPr>
          <p:cNvSpPr txBox="1"/>
          <p:nvPr/>
        </p:nvSpPr>
        <p:spPr>
          <a:xfrm>
            <a:off x="914400" y="5816600"/>
            <a:ext cx="10287000" cy="31547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050">
                <a:solidFill>
                  <a:srgbClr val="66635C"/>
                </a:solidFill>
                <a:latin typeface="Aptos" panose="020B0004020202020204" pitchFamily="34" charset="0"/>
              </a:rPr>
              <a:t>Sources: NSO 2024 population projection and vital-statistics summaries; NSO / UNFPA reporting from the 2019 census.</a:t>
            </a:r>
          </a:p>
        </p:txBody>
      </p:sp>
    </p:spTree>
    <p:extLst>
      <p:ext uri="{BB962C8B-B14F-4D97-AF65-F5344CB8AC3E}">
        <p14:creationId xmlns:p14="http://schemas.microsoft.com/office/powerpoint/2010/main" val="70905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D2D51-3FAE-DC26-927B-A2BC15ADDA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35964-B203-2A9D-45A0-DB452BD06828}"/>
              </a:ext>
            </a:extLst>
          </p:cNvPr>
          <p:cNvSpPr txBox="1"/>
          <p:nvPr/>
        </p:nvSpPr>
        <p:spPr>
          <a:xfrm>
            <a:off x="685800" y="381000"/>
            <a:ext cx="5334000" cy="53860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500" b="1">
                <a:solidFill>
                  <a:srgbClr val="22262E"/>
                </a:solidFill>
                <a:latin typeface="Aptos Display" panose="020B0004020202020204" pitchFamily="34" charset="0"/>
              </a:rPr>
              <a:t>What this means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A7EA22-E984-953F-3085-0121336703D8}"/>
              </a:ext>
            </a:extLst>
          </p:cNvPr>
          <p:cNvSpPr/>
          <p:nvPr/>
        </p:nvSpPr>
        <p:spPr>
          <a:xfrm>
            <a:off x="711200" y="1219200"/>
            <a:ext cx="10642600" cy="3987800"/>
          </a:xfrm>
          <a:prstGeom prst="roundRect">
            <a:avLst/>
          </a:prstGeom>
          <a:solidFill>
            <a:srgbClr val="F6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63405-73EC-61EF-F5B2-88912C842031}"/>
              </a:ext>
            </a:extLst>
          </p:cNvPr>
          <p:cNvSpPr txBox="1"/>
          <p:nvPr/>
        </p:nvSpPr>
        <p:spPr>
          <a:xfrm>
            <a:off x="1041400" y="1498600"/>
            <a:ext cx="9575800" cy="4616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22262E"/>
                </a:solidFill>
                <a:latin typeface="Aptos Display" panose="020B0004020202020204" pitchFamily="34" charset="0"/>
              </a:rPr>
              <a:t>1. Vietnam still benefits from demographic scale and a broad working-age base.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C4E31-7DFB-A7EB-9F52-9124E79E03E6}"/>
              </a:ext>
            </a:extLst>
          </p:cNvPr>
          <p:cNvSpPr txBox="1"/>
          <p:nvPr/>
        </p:nvSpPr>
        <p:spPr>
          <a:xfrm>
            <a:off x="1041400" y="2133600"/>
            <a:ext cx="9575800" cy="4616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22262E"/>
                </a:solidFill>
                <a:latin typeface="Aptos Display" panose="020B0004020202020204" pitchFamily="34" charset="0"/>
              </a:rPr>
              <a:t>2. The center of gravity is shifting from youth abundance toward aging management.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F1D61-FACD-3235-6367-75D293964BBE}"/>
              </a:ext>
            </a:extLst>
          </p:cNvPr>
          <p:cNvSpPr txBox="1"/>
          <p:nvPr/>
        </p:nvSpPr>
        <p:spPr>
          <a:xfrm>
            <a:off x="1041400" y="2768600"/>
            <a:ext cx="9575800" cy="76944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22262E"/>
                </a:solidFill>
                <a:latin typeface="Aptos Display" panose="020B0004020202020204" pitchFamily="34" charset="0"/>
              </a:rPr>
              <a:t>3. Urbanization is meaningful but incomplete, so national strategy still has to work for both city and rural populations.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2AB92-ADD1-CC68-1179-BB1CEEEBD990}"/>
              </a:ext>
            </a:extLst>
          </p:cNvPr>
          <p:cNvSpPr txBox="1"/>
          <p:nvPr/>
        </p:nvSpPr>
        <p:spPr>
          <a:xfrm>
            <a:off x="1041400" y="3403600"/>
            <a:ext cx="9575800" cy="46166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22262E"/>
                </a:solidFill>
                <a:latin typeface="Aptos Display" panose="020B0004020202020204" pitchFamily="34" charset="0"/>
              </a:rPr>
              <a:t>4. Inclusion challenges remain visible in ethnicity, fertility, and sex-ratio trends.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40A98-8A50-3582-1072-A4707CB4F42A}"/>
              </a:ext>
            </a:extLst>
          </p:cNvPr>
          <p:cNvSpPr txBox="1"/>
          <p:nvPr/>
        </p:nvSpPr>
        <p:spPr>
          <a:xfrm>
            <a:off x="1041400" y="4216400"/>
            <a:ext cx="9652000" cy="6463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9B2226"/>
                </a:solidFill>
                <a:latin typeface="Aptos" panose="020B0004020202020204" pitchFamily="34" charset="0"/>
              </a:rPr>
              <a:t>Policy themes to watch: family support, healthy aging, urban infrastructure, labor productivity, and minority inclusion.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DA1BE6-F40A-1D10-BCD3-9708039D1F6D}"/>
              </a:ext>
            </a:extLst>
          </p:cNvPr>
          <p:cNvSpPr txBox="1"/>
          <p:nvPr/>
        </p:nvSpPr>
        <p:spPr>
          <a:xfrm>
            <a:off x="711200" y="5562600"/>
            <a:ext cx="10668000" cy="52322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en-US" sz="1200">
                <a:solidFill>
                  <a:srgbClr val="66635C"/>
                </a:solidFill>
                <a:latin typeface="Aptos" panose="020B0004020202020204" pitchFamily="34" charset="0"/>
              </a:rPr>
              <a:t>Primary references used in this pilot deck: National Statistics Office of Vietnam 2024 socio-economic and population releases; NSO / UNFPA 2019 census publications; World Bank / UN Population Division age-structure series.</a:t>
            </a:r>
          </a:p>
        </p:txBody>
      </p:sp>
    </p:spTree>
    <p:extLst>
      <p:ext uri="{BB962C8B-B14F-4D97-AF65-F5344CB8AC3E}">
        <p14:creationId xmlns:p14="http://schemas.microsoft.com/office/powerpoint/2010/main" val="1506620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Microsoft Office PowerPoint</Application>
  <PresentationFormat>Custom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Tien Dat [VEE0634]</dc:creator>
  <cp:lastModifiedBy>Nguyen Tien Dat [VEE0634]</cp:lastModifiedBy>
  <cp:revision>1</cp:revision>
  <dcterms:created xsi:type="dcterms:W3CDTF">2026-05-19T05:00:15Z</dcterms:created>
  <dcterms:modified xsi:type="dcterms:W3CDTF">2026-05-19T05:00:15Z</dcterms:modified>
</cp:coreProperties>
</file>